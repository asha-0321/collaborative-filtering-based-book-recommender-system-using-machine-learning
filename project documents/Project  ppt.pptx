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20"/>
  </p:notesMasterIdLst>
  <p:sldIdLst>
    <p:sldId id="257" r:id="rId2"/>
    <p:sldId id="258" r:id="rId3"/>
    <p:sldId id="259" r:id="rId4"/>
    <p:sldId id="261" r:id="rId5"/>
    <p:sldId id="260" r:id="rId6"/>
    <p:sldId id="262" r:id="rId7"/>
    <p:sldId id="264" r:id="rId8"/>
    <p:sldId id="265" r:id="rId9"/>
    <p:sldId id="277"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3137" autoAdjust="0"/>
  </p:normalViewPr>
  <p:slideViewPr>
    <p:cSldViewPr snapToGrid="0">
      <p:cViewPr varScale="1">
        <p:scale>
          <a:sx n="68" d="100"/>
          <a:sy n="68" d="100"/>
        </p:scale>
        <p:origin x="125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E2C84D-6CEA-435B-9B66-C782E3B008A9}"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D38397-14EF-4B45-88C4-036306695D07}" type="slidenum">
              <a:rPr lang="en-IN" smtClean="0"/>
              <a:t>‹#›</a:t>
            </a:fld>
            <a:endParaRPr lang="en-IN"/>
          </a:p>
        </p:txBody>
      </p:sp>
    </p:spTree>
    <p:extLst>
      <p:ext uri="{BB962C8B-B14F-4D97-AF65-F5344CB8AC3E}">
        <p14:creationId xmlns:p14="http://schemas.microsoft.com/office/powerpoint/2010/main" val="1007254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D38397-14EF-4B45-88C4-036306695D07}" type="slidenum">
              <a:rPr lang="en-IN" smtClean="0"/>
              <a:t>2</a:t>
            </a:fld>
            <a:endParaRPr lang="en-IN"/>
          </a:p>
        </p:txBody>
      </p:sp>
    </p:spTree>
    <p:extLst>
      <p:ext uri="{BB962C8B-B14F-4D97-AF65-F5344CB8AC3E}">
        <p14:creationId xmlns:p14="http://schemas.microsoft.com/office/powerpoint/2010/main" val="4150580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72EF1-CD62-A2B3-3C66-7DB67C2E9D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3B56C1E-F037-803E-C97B-460FAF5B2D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5EE532-68B9-A158-4062-ACC6F73FB93A}"/>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5" name="Footer Placeholder 4">
            <a:extLst>
              <a:ext uri="{FF2B5EF4-FFF2-40B4-BE49-F238E27FC236}">
                <a16:creationId xmlns:a16="http://schemas.microsoft.com/office/drawing/2014/main" id="{E189D65C-B122-6E65-FDB8-8374C471A4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3C432-B6F4-EB97-3127-F7845F7F4056}"/>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2647885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A1B8-6547-E65F-D216-8E3EC2ACE8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8DB8F1-4D0E-8440-7680-B5AF79777B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50D34E-9ABF-C144-44E1-1FA7F1EB71DB}"/>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5" name="Footer Placeholder 4">
            <a:extLst>
              <a:ext uri="{FF2B5EF4-FFF2-40B4-BE49-F238E27FC236}">
                <a16:creationId xmlns:a16="http://schemas.microsoft.com/office/drawing/2014/main" id="{E0C53337-2B64-06FF-47E5-820B2DF99B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E366AB-9D90-0931-EA79-ECB9B750C923}"/>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666612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BBBAF-F6CE-4B52-998A-BC96E09284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06CC59-2374-A326-54BB-3448842793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229EAA-96D4-995B-6359-06B957654724}"/>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5" name="Footer Placeholder 4">
            <a:extLst>
              <a:ext uri="{FF2B5EF4-FFF2-40B4-BE49-F238E27FC236}">
                <a16:creationId xmlns:a16="http://schemas.microsoft.com/office/drawing/2014/main" id="{C6283D97-E263-E6CD-BD14-27F5F2351D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08FFE3-29D2-93F3-8531-475CF03C9C66}"/>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3445035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F350-CF02-370D-00D0-2D5B7F9616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76025E-4555-3A4F-2D44-B39777454A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1EF0CAC-0A42-0AEC-288A-DF518C7FAA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E8F9F3-6F1A-C5AA-60DA-55507AAF8692}"/>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6" name="Footer Placeholder 5">
            <a:extLst>
              <a:ext uri="{FF2B5EF4-FFF2-40B4-BE49-F238E27FC236}">
                <a16:creationId xmlns:a16="http://schemas.microsoft.com/office/drawing/2014/main" id="{AD682A93-6DED-237F-AF47-EA2F0BB1D0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57F506-56DD-3749-FFBA-DCF71DCBDBAE}"/>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261580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8B04-1B71-8D53-3B0B-090E343A0F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309D28-B40D-2C59-1CDA-99F2A1A247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6EB068-0AAE-A354-ACFC-7ED2759DD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941D7F-BC2E-E652-DD46-9C48C6A46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0AB54E-6B3A-563C-0DB0-14D188BEE9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C2A368-F8F5-1A04-5E39-AA8453D2CB2F}"/>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8" name="Footer Placeholder 7">
            <a:extLst>
              <a:ext uri="{FF2B5EF4-FFF2-40B4-BE49-F238E27FC236}">
                <a16:creationId xmlns:a16="http://schemas.microsoft.com/office/drawing/2014/main" id="{23DCDDA0-86E5-05AB-067F-ACE8F2D92A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D2451A-6564-D648-07B1-12D011980E48}"/>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563756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2AEF-DBB4-B86F-4FAD-E23F3764C6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0E1F9D-012F-3711-D702-AB12CB64C359}"/>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4" name="Footer Placeholder 3">
            <a:extLst>
              <a:ext uri="{FF2B5EF4-FFF2-40B4-BE49-F238E27FC236}">
                <a16:creationId xmlns:a16="http://schemas.microsoft.com/office/drawing/2014/main" id="{69D42A1A-0898-D258-968C-A7229BDCC7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BC37B0B-C638-5DB5-1364-035B953B54DF}"/>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1886252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88614A-3AEB-1419-EC7A-FB4932D50D93}"/>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3" name="Footer Placeholder 2">
            <a:extLst>
              <a:ext uri="{FF2B5EF4-FFF2-40B4-BE49-F238E27FC236}">
                <a16:creationId xmlns:a16="http://schemas.microsoft.com/office/drawing/2014/main" id="{7EBAB1BF-AB81-C7FB-B069-E82C510375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8F9201-E83A-3B3F-B2A9-7B3B428A6992}"/>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3096926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E435-8985-F4F3-9539-EE24E6460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078B34D-1EE6-7209-9874-C04041B46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1E4296-7DB2-8643-4799-88443FC48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9E33B3-C66C-775A-CF2D-36DB41FD7009}"/>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6" name="Footer Placeholder 5">
            <a:extLst>
              <a:ext uri="{FF2B5EF4-FFF2-40B4-BE49-F238E27FC236}">
                <a16:creationId xmlns:a16="http://schemas.microsoft.com/office/drawing/2014/main" id="{8BF97301-175F-0239-AC07-2C8F677FAE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AC57BB-2048-B0C1-E37C-9CAC963A747B}"/>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1086883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877E-873C-2BA2-E8DE-19112BC70A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1C27A9-9DB0-8251-BCA5-5B642DC0B9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D0C904-FFBA-FE68-6736-4232903CC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4D511D-4550-8925-3E43-34BCFC48C386}"/>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6" name="Footer Placeholder 5">
            <a:extLst>
              <a:ext uri="{FF2B5EF4-FFF2-40B4-BE49-F238E27FC236}">
                <a16:creationId xmlns:a16="http://schemas.microsoft.com/office/drawing/2014/main" id="{98DB5D3F-5C6B-2EFF-EE87-7B30471EBD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B93A4C-AD59-C855-B518-D6A0800B52F4}"/>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6237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2B97-79F0-FF45-930C-0C8CFA0DDC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321647-58F8-86C5-960B-30B2CB40F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C9504D-2143-7B1F-DBCA-359F76F5AB14}"/>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5" name="Footer Placeholder 4">
            <a:extLst>
              <a:ext uri="{FF2B5EF4-FFF2-40B4-BE49-F238E27FC236}">
                <a16:creationId xmlns:a16="http://schemas.microsoft.com/office/drawing/2014/main" id="{04897979-61B2-3D12-1ECC-0F522C0EF3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739AE2-C253-2E5A-8FEC-497FF02FE806}"/>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691848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253AF1-27FD-4CCA-0921-DC84EF1550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CBE9BB-D6C9-7D8A-BD56-73FA3EDE69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1B8AD2-02E3-6D33-06B0-15DEB4399C87}"/>
              </a:ext>
            </a:extLst>
          </p:cNvPr>
          <p:cNvSpPr>
            <a:spLocks noGrp="1"/>
          </p:cNvSpPr>
          <p:nvPr>
            <p:ph type="dt" sz="half" idx="10"/>
          </p:nvPr>
        </p:nvSpPr>
        <p:spPr/>
        <p:txBody>
          <a:bodyPr/>
          <a:lstStyle/>
          <a:p>
            <a:fld id="{7F2EAF86-07AF-4CC9-98FB-90502430C392}" type="datetimeFigureOut">
              <a:rPr lang="en-IN" smtClean="0"/>
              <a:t>07-04-2026</a:t>
            </a:fld>
            <a:endParaRPr lang="en-IN"/>
          </a:p>
        </p:txBody>
      </p:sp>
      <p:sp>
        <p:nvSpPr>
          <p:cNvPr id="5" name="Footer Placeholder 4">
            <a:extLst>
              <a:ext uri="{FF2B5EF4-FFF2-40B4-BE49-F238E27FC236}">
                <a16:creationId xmlns:a16="http://schemas.microsoft.com/office/drawing/2014/main" id="{D1EBBF35-D8A3-94D4-A70F-886B2A3CBB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1BFC1C-B2AE-C366-8860-DEBC511692E8}"/>
              </a:ext>
            </a:extLst>
          </p:cNvPr>
          <p:cNvSpPr>
            <a:spLocks noGrp="1"/>
          </p:cNvSpPr>
          <p:nvPr>
            <p:ph type="sldNum" sz="quarter" idx="12"/>
          </p:nvPr>
        </p:nvSpPr>
        <p:spPr/>
        <p:txBody>
          <a:bodyPr/>
          <a:lstStyle/>
          <a:p>
            <a:fld id="{825B7087-C9F7-4F31-9234-699737A94898}" type="slidenum">
              <a:rPr lang="en-IN" smtClean="0"/>
              <a:t>‹#›</a:t>
            </a:fld>
            <a:endParaRPr lang="en-IN"/>
          </a:p>
        </p:txBody>
      </p:sp>
    </p:spTree>
    <p:extLst>
      <p:ext uri="{BB962C8B-B14F-4D97-AF65-F5344CB8AC3E}">
        <p14:creationId xmlns:p14="http://schemas.microsoft.com/office/powerpoint/2010/main" val="2455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F11EEA-693C-343A-8494-DBCEF7A877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247037-3609-4D05-9888-AE2105C3C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06DF14-DC9A-AEF3-0905-8D44DAA8A9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2EAF86-07AF-4CC9-98FB-90502430C392}" type="datetimeFigureOut">
              <a:rPr lang="en-IN" smtClean="0"/>
              <a:t>07-04-2026</a:t>
            </a:fld>
            <a:endParaRPr lang="en-IN"/>
          </a:p>
        </p:txBody>
      </p:sp>
      <p:sp>
        <p:nvSpPr>
          <p:cNvPr id="5" name="Footer Placeholder 4">
            <a:extLst>
              <a:ext uri="{FF2B5EF4-FFF2-40B4-BE49-F238E27FC236}">
                <a16:creationId xmlns:a16="http://schemas.microsoft.com/office/drawing/2014/main" id="{111DC900-D2B2-52EE-4986-964EE0B665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351FCA-15D4-AE2F-9C8E-858BFDB5F6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B7087-C9F7-4F31-9234-699737A94898}" type="slidenum">
              <a:rPr lang="en-IN" smtClean="0"/>
              <a:t>‹#›</a:t>
            </a:fld>
            <a:endParaRPr lang="en-IN"/>
          </a:p>
        </p:txBody>
      </p:sp>
    </p:spTree>
    <p:extLst>
      <p:ext uri="{BB962C8B-B14F-4D97-AF65-F5344CB8AC3E}">
        <p14:creationId xmlns:p14="http://schemas.microsoft.com/office/powerpoint/2010/main" val="352617119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warnandhra College of Engineering and Technology ...">
            <a:extLst>
              <a:ext uri="{FF2B5EF4-FFF2-40B4-BE49-F238E27FC236}">
                <a16:creationId xmlns:a16="http://schemas.microsoft.com/office/drawing/2014/main" id="{1451C000-EBAC-66A1-FC7B-0D6FEA5F2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10" y="205248"/>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84D46EA-E3BF-E4D3-D955-E564D6103086}"/>
              </a:ext>
            </a:extLst>
          </p:cNvPr>
          <p:cNvSpPr txBox="1"/>
          <p:nvPr/>
        </p:nvSpPr>
        <p:spPr>
          <a:xfrm>
            <a:off x="2083210" y="205248"/>
            <a:ext cx="7044748" cy="1908215"/>
          </a:xfrm>
          <a:prstGeom prst="rect">
            <a:avLst/>
          </a:prstGeom>
          <a:noFill/>
        </p:spPr>
        <p:txBody>
          <a:bodyPr wrap="square" rtlCol="0">
            <a:spAutoFit/>
          </a:bodyPr>
          <a:lstStyle/>
          <a:p>
            <a:pPr algn="ctr"/>
            <a:r>
              <a:rPr lang="en-IN" sz="5400" dirty="0">
                <a:solidFill>
                  <a:srgbClr val="800080"/>
                </a:solidFill>
                <a:latin typeface="Arial Black" panose="020B0A04020102020204" pitchFamily="34" charset="0"/>
                <a:cs typeface="Times New Roman" panose="02020603050405020304" pitchFamily="18" charset="0"/>
              </a:rPr>
              <a:t>SWARNANDHRA</a:t>
            </a:r>
            <a:r>
              <a:rPr lang="en-IN" dirty="0"/>
              <a:t> </a:t>
            </a:r>
          </a:p>
          <a:p>
            <a:pPr algn="ctr"/>
            <a:r>
              <a:rPr lang="en-IN" dirty="0">
                <a:solidFill>
                  <a:srgbClr val="800080"/>
                </a:solidFill>
                <a:latin typeface="Arial Black" panose="020B0A04020102020204" pitchFamily="34" charset="0"/>
              </a:rPr>
              <a:t>College of Engineering and Technology</a:t>
            </a:r>
          </a:p>
          <a:p>
            <a:pPr algn="ctr"/>
            <a:r>
              <a:rPr lang="en-IN" dirty="0">
                <a:latin typeface="Arial Rounded MT Bold" panose="020F0704030504030204" pitchFamily="34" charset="0"/>
                <a:cs typeface="Times New Roman" panose="02020603050405020304" pitchFamily="18" charset="0"/>
              </a:rPr>
              <a:t>(Autonomous)</a:t>
            </a:r>
          </a:p>
          <a:p>
            <a:pPr algn="ctr"/>
            <a:r>
              <a:rPr lang="en-IN" sz="1200" dirty="0">
                <a:latin typeface="Lucida Fax" panose="02060602050505020204" pitchFamily="18" charset="0"/>
              </a:rPr>
              <a:t>Permanent Affiliated to JNTUK, Kakinada, Approved by AICTE</a:t>
            </a:r>
          </a:p>
          <a:p>
            <a:pPr algn="ctr"/>
            <a:r>
              <a:rPr lang="en-IN" sz="1200" dirty="0">
                <a:latin typeface="Lucida Fax" panose="02060602050505020204" pitchFamily="18" charset="0"/>
              </a:rPr>
              <a:t>Narsapur, Andhra Pradesh 534280,India</a:t>
            </a:r>
          </a:p>
        </p:txBody>
      </p:sp>
      <p:sp>
        <p:nvSpPr>
          <p:cNvPr id="3" name="TextBox 2">
            <a:extLst>
              <a:ext uri="{FF2B5EF4-FFF2-40B4-BE49-F238E27FC236}">
                <a16:creationId xmlns:a16="http://schemas.microsoft.com/office/drawing/2014/main" id="{AC74CC52-CF1B-21CD-F89B-69FCBD5E33EE}"/>
              </a:ext>
            </a:extLst>
          </p:cNvPr>
          <p:cNvSpPr txBox="1"/>
          <p:nvPr/>
        </p:nvSpPr>
        <p:spPr>
          <a:xfrm>
            <a:off x="1445342" y="2176084"/>
            <a:ext cx="8770374" cy="369332"/>
          </a:xfrm>
          <a:prstGeom prst="rect">
            <a:avLst/>
          </a:prstGeom>
          <a:noFill/>
        </p:spPr>
        <p:txBody>
          <a:bodyPr wrap="square" rtlCol="0">
            <a:spAutoFit/>
          </a:bodyPr>
          <a:lstStyle/>
          <a:p>
            <a:pPr algn="ctr"/>
            <a:r>
              <a:rPr lang="en-IN" dirty="0">
                <a:latin typeface="Arial Black" panose="020B0A04020102020204" pitchFamily="34" charset="0"/>
              </a:rPr>
              <a:t>Department Of Artificial intelligence and Machine Learning</a:t>
            </a:r>
          </a:p>
        </p:txBody>
      </p:sp>
      <p:sp>
        <p:nvSpPr>
          <p:cNvPr id="4" name="TextBox 3">
            <a:extLst>
              <a:ext uri="{FF2B5EF4-FFF2-40B4-BE49-F238E27FC236}">
                <a16:creationId xmlns:a16="http://schemas.microsoft.com/office/drawing/2014/main" id="{7609C6F4-9ECA-CB46-477F-B4A355232181}"/>
              </a:ext>
            </a:extLst>
          </p:cNvPr>
          <p:cNvSpPr txBox="1"/>
          <p:nvPr/>
        </p:nvSpPr>
        <p:spPr>
          <a:xfrm>
            <a:off x="668593" y="2724649"/>
            <a:ext cx="10854813" cy="369332"/>
          </a:xfrm>
          <a:prstGeom prst="rect">
            <a:avLst/>
          </a:prstGeom>
          <a:noFill/>
        </p:spPr>
        <p:txBody>
          <a:bodyPr wrap="square" rtlCol="0">
            <a:spAutoFit/>
          </a:bodyPr>
          <a:lstStyle/>
          <a:p>
            <a:r>
              <a:rPr lang="en-IN" dirty="0">
                <a:latin typeface="Arial Rounded MT Bold" panose="020F0704030504030204" pitchFamily="34" charset="0"/>
              </a:rPr>
              <a:t>Project Title:  </a:t>
            </a:r>
            <a:r>
              <a:rPr lang="en-IN" b="1" dirty="0"/>
              <a:t>COLLABORATIVE FILTERING-BASED BOOK RECOMMENDER SYSTEM USING MACHINE LEARNING</a:t>
            </a:r>
            <a:endParaRPr lang="en-IN" dirty="0">
              <a:latin typeface="Arial Rounded MT Bold" panose="020F0704030504030204" pitchFamily="34" charset="0"/>
            </a:endParaRPr>
          </a:p>
        </p:txBody>
      </p:sp>
      <p:sp>
        <p:nvSpPr>
          <p:cNvPr id="6" name="TextBox 5">
            <a:extLst>
              <a:ext uri="{FF2B5EF4-FFF2-40B4-BE49-F238E27FC236}">
                <a16:creationId xmlns:a16="http://schemas.microsoft.com/office/drawing/2014/main" id="{3C962C87-C6E0-DA66-B175-E572FFD89452}"/>
              </a:ext>
            </a:extLst>
          </p:cNvPr>
          <p:cNvSpPr txBox="1"/>
          <p:nvPr/>
        </p:nvSpPr>
        <p:spPr>
          <a:xfrm>
            <a:off x="865239" y="3687097"/>
            <a:ext cx="9989574" cy="1938992"/>
          </a:xfrm>
          <a:prstGeom prst="rect">
            <a:avLst/>
          </a:prstGeom>
          <a:noFill/>
        </p:spPr>
        <p:txBody>
          <a:bodyPr wrap="square" rtlCol="0">
            <a:spAutoFit/>
          </a:bodyPr>
          <a:lstStyle/>
          <a:p>
            <a:pPr algn="ctr"/>
            <a:r>
              <a:rPr lang="en-IN" sz="2400" dirty="0">
                <a:latin typeface="Bahnschrift" panose="020B0502040204020203" pitchFamily="34" charset="0"/>
              </a:rPr>
              <a:t>              Ch. Bhagya Lakshmi  -  22A21A6112</a:t>
            </a:r>
          </a:p>
          <a:p>
            <a:pPr algn="ctr"/>
            <a:r>
              <a:rPr lang="en-IN" sz="2400" dirty="0">
                <a:latin typeface="Bahnschrift" panose="020B0502040204020203" pitchFamily="34" charset="0"/>
              </a:rPr>
              <a:t>K. Sravanthi -22A21A6148</a:t>
            </a:r>
          </a:p>
          <a:p>
            <a:pPr algn="ctr"/>
            <a:r>
              <a:rPr lang="en-IN" sz="2400" dirty="0">
                <a:latin typeface="Bahnschrift" panose="020B0502040204020203" pitchFamily="34" charset="0"/>
              </a:rPr>
              <a:t>K. Asha Devi – 22A21A6141</a:t>
            </a:r>
          </a:p>
          <a:p>
            <a:pPr algn="ctr"/>
            <a:r>
              <a:rPr lang="en-IN" sz="2400" dirty="0">
                <a:latin typeface="Bahnschrift" panose="020B0502040204020203" pitchFamily="34" charset="0"/>
              </a:rPr>
              <a:t>          N. Naga Sai Lahari – 22A21A6163</a:t>
            </a:r>
          </a:p>
          <a:p>
            <a:pPr algn="ctr"/>
            <a:endParaRPr lang="en-IN" sz="2400" dirty="0">
              <a:latin typeface="Bahnschrift" panose="020B0502040204020203" pitchFamily="34" charset="0"/>
            </a:endParaRPr>
          </a:p>
        </p:txBody>
      </p:sp>
      <p:sp>
        <p:nvSpPr>
          <p:cNvPr id="7" name="TextBox 6">
            <a:extLst>
              <a:ext uri="{FF2B5EF4-FFF2-40B4-BE49-F238E27FC236}">
                <a16:creationId xmlns:a16="http://schemas.microsoft.com/office/drawing/2014/main" id="{8487F95D-191A-9EAD-50B3-A44DA9082260}"/>
              </a:ext>
            </a:extLst>
          </p:cNvPr>
          <p:cNvSpPr txBox="1"/>
          <p:nvPr/>
        </p:nvSpPr>
        <p:spPr>
          <a:xfrm>
            <a:off x="668593" y="5122606"/>
            <a:ext cx="4758813" cy="1477328"/>
          </a:xfrm>
          <a:prstGeom prst="rect">
            <a:avLst/>
          </a:prstGeom>
          <a:noFill/>
        </p:spPr>
        <p:txBody>
          <a:bodyPr wrap="square" rtlCol="0">
            <a:spAutoFit/>
          </a:bodyPr>
          <a:lstStyle/>
          <a:p>
            <a:r>
              <a:rPr lang="en-IN" dirty="0">
                <a:latin typeface="Arial Black" panose="020B0A04020102020204" pitchFamily="34" charset="0"/>
              </a:rPr>
              <a:t> </a:t>
            </a:r>
          </a:p>
          <a:p>
            <a:endParaRPr lang="en-IN" dirty="0">
              <a:latin typeface="Arial Black" panose="020B0A04020102020204" pitchFamily="34" charset="0"/>
            </a:endParaRPr>
          </a:p>
          <a:p>
            <a:endParaRPr lang="en-IN" dirty="0">
              <a:latin typeface="Arial Black" panose="020B0A04020102020204" pitchFamily="34" charset="0"/>
            </a:endParaRPr>
          </a:p>
          <a:p>
            <a:r>
              <a:rPr lang="en-IN" dirty="0">
                <a:latin typeface="Arial Black" panose="020B0A04020102020204" pitchFamily="34" charset="0"/>
              </a:rPr>
              <a:t>Project Guide : </a:t>
            </a:r>
            <a:r>
              <a:rPr lang="en-IN" dirty="0">
                <a:latin typeface="Times New Roman" panose="02020603050405020304" pitchFamily="18" charset="0"/>
                <a:cs typeface="Times New Roman" panose="02020603050405020304" pitchFamily="18" charset="0"/>
              </a:rPr>
              <a:t>V. Durga Rao</a:t>
            </a:r>
          </a:p>
          <a:p>
            <a:r>
              <a:rPr lang="en-IN" dirty="0">
                <a:latin typeface="Times New Roman" panose="02020603050405020304" pitchFamily="18" charset="0"/>
                <a:cs typeface="Times New Roman" panose="02020603050405020304" pitchFamily="18" charset="0"/>
              </a:rPr>
              <a:t> Assistance Professor , M.Tech , PhD</a:t>
            </a:r>
          </a:p>
        </p:txBody>
      </p:sp>
      <p:pic>
        <p:nvPicPr>
          <p:cNvPr id="12" name="Picture 11">
            <a:extLst>
              <a:ext uri="{FF2B5EF4-FFF2-40B4-BE49-F238E27FC236}">
                <a16:creationId xmlns:a16="http://schemas.microsoft.com/office/drawing/2014/main" id="{2CEAF411-FCAC-FBC1-CC16-2066922E30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9247" y="252138"/>
            <a:ext cx="1912938" cy="1688766"/>
          </a:xfrm>
          <a:prstGeom prst="rect">
            <a:avLst/>
          </a:prstGeom>
        </p:spPr>
      </p:pic>
    </p:spTree>
    <p:extLst>
      <p:ext uri="{BB962C8B-B14F-4D97-AF65-F5344CB8AC3E}">
        <p14:creationId xmlns:p14="http://schemas.microsoft.com/office/powerpoint/2010/main" val="1756447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016A30-D48B-1D9C-A8A7-6EDEEBF76A5B}"/>
              </a:ext>
            </a:extLst>
          </p:cNvPr>
          <p:cNvSpPr>
            <a:spLocks noGrp="1"/>
          </p:cNvSpPr>
          <p:nvPr>
            <p:ph type="title"/>
          </p:nvPr>
        </p:nvSpPr>
        <p:spPr>
          <a:xfrm>
            <a:off x="679719" y="216310"/>
            <a:ext cx="10106268" cy="1345005"/>
          </a:xfrm>
        </p:spPr>
        <p:txBody>
          <a:bodyPr>
            <a:normAutofit/>
          </a:bodyPr>
          <a:lstStyle/>
          <a:p>
            <a:pPr algn="ctr"/>
            <a:r>
              <a:rPr lang="en-IN" sz="3200" b="1" dirty="0">
                <a:latin typeface="Times New Roman" panose="02020603050405020304" pitchFamily="18" charset="0"/>
                <a:cs typeface="Times New Roman" panose="02020603050405020304" pitchFamily="18" charset="0"/>
              </a:rPr>
              <a:t>  Abstract</a:t>
            </a:r>
          </a:p>
        </p:txBody>
      </p:sp>
      <p:sp>
        <p:nvSpPr>
          <p:cNvPr id="4" name="Content Placeholder 3">
            <a:extLst>
              <a:ext uri="{FF2B5EF4-FFF2-40B4-BE49-F238E27FC236}">
                <a16:creationId xmlns:a16="http://schemas.microsoft.com/office/drawing/2014/main" id="{4C873FC2-E792-E7F0-8061-8DA332E5B944}"/>
              </a:ext>
            </a:extLst>
          </p:cNvPr>
          <p:cNvSpPr>
            <a:spLocks noGrp="1"/>
          </p:cNvSpPr>
          <p:nvPr>
            <p:ph idx="1"/>
          </p:nvPr>
        </p:nvSpPr>
        <p:spPr>
          <a:xfrm>
            <a:off x="1091380" y="1561315"/>
            <a:ext cx="10262419" cy="3895588"/>
          </a:xfrm>
        </p:spPr>
        <p:txBody>
          <a:bodyPr>
            <a:normAutofit/>
          </a:bodyPr>
          <a:lstStyle/>
          <a:p>
            <a:pPr algn="just">
              <a:lnSpc>
                <a:spcPct val="100000"/>
              </a:lnSpc>
            </a:pPr>
            <a:r>
              <a:rPr lang="en-US" sz="1800" dirty="0">
                <a:latin typeface="Times New Roman" panose="02020603050405020304" pitchFamily="18" charset="0"/>
                <a:cs typeface="Times New Roman" panose="02020603050405020304" pitchFamily="18" charset="0"/>
              </a:rPr>
              <a:t>Recommender systems are widely used to predict user preferences and provide personalized suggestions. Collaborative filtering is a popular technique that recommends items based on similarities between users or items.</a:t>
            </a:r>
          </a:p>
          <a:p>
            <a:pPr algn="just">
              <a:lnSpc>
                <a:spcPct val="100000"/>
              </a:lnSpc>
            </a:pPr>
            <a:r>
              <a:rPr lang="en-US" sz="1800" dirty="0">
                <a:latin typeface="Times New Roman" panose="02020603050405020304" pitchFamily="18" charset="0"/>
                <a:cs typeface="Times New Roman" panose="02020603050405020304" pitchFamily="18" charset="0"/>
              </a:rPr>
              <a:t>These systems use both explicit data (ratings, reviews) and implicit data (user interactions) to understand user behavior and improve recommendation accuracy.</a:t>
            </a:r>
          </a:p>
          <a:p>
            <a:pPr algn="just">
              <a:lnSpc>
                <a:spcPct val="100000"/>
              </a:lnSpc>
            </a:pPr>
            <a:r>
              <a:rPr lang="en-US" sz="1800" dirty="0">
                <a:latin typeface="Times New Roman" panose="02020603050405020304" pitchFamily="18" charset="0"/>
                <a:cs typeface="Times New Roman" panose="02020603050405020304" pitchFamily="18" charset="0"/>
              </a:rPr>
              <a:t>Collaborative filtering is widely used in real-world applications such as Amazon and is often combined with other techniques to enhance recommendation performance. It enables users to efficiently discover relevant items from large datasets without manual searching. By analyzing user behavior and preferences, this approach improves overall user satisfaction by delivering accurate and meaningful recommendations.</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9116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EB473C3-3B6C-F189-9C32-C43DF3EEE2D1}"/>
              </a:ext>
            </a:extLst>
          </p:cNvPr>
          <p:cNvGraphicFramePr>
            <a:graphicFrameLocks noGrp="1"/>
          </p:cNvGraphicFramePr>
          <p:nvPr>
            <p:extLst>
              <p:ext uri="{D42A27DB-BD31-4B8C-83A1-F6EECF244321}">
                <p14:modId xmlns:p14="http://schemas.microsoft.com/office/powerpoint/2010/main" val="1741615779"/>
              </p:ext>
            </p:extLst>
          </p:nvPr>
        </p:nvGraphicFramePr>
        <p:xfrm>
          <a:off x="1396182" y="1175483"/>
          <a:ext cx="9242325" cy="4626609"/>
        </p:xfrm>
        <a:graphic>
          <a:graphicData uri="http://schemas.openxmlformats.org/drawingml/2006/table">
            <a:tbl>
              <a:tblPr/>
              <a:tblGrid>
                <a:gridCol w="589934">
                  <a:extLst>
                    <a:ext uri="{9D8B030D-6E8A-4147-A177-3AD203B41FA5}">
                      <a16:colId xmlns:a16="http://schemas.microsoft.com/office/drawing/2014/main" val="495341782"/>
                    </a:ext>
                  </a:extLst>
                </a:gridCol>
                <a:gridCol w="2369574">
                  <a:extLst>
                    <a:ext uri="{9D8B030D-6E8A-4147-A177-3AD203B41FA5}">
                      <a16:colId xmlns:a16="http://schemas.microsoft.com/office/drawing/2014/main" val="3910270458"/>
                    </a:ext>
                  </a:extLst>
                </a:gridCol>
                <a:gridCol w="2585887">
                  <a:extLst>
                    <a:ext uri="{9D8B030D-6E8A-4147-A177-3AD203B41FA5}">
                      <a16:colId xmlns:a16="http://schemas.microsoft.com/office/drawing/2014/main" val="1588977841"/>
                    </a:ext>
                  </a:extLst>
                </a:gridCol>
                <a:gridCol w="688255">
                  <a:extLst>
                    <a:ext uri="{9D8B030D-6E8A-4147-A177-3AD203B41FA5}">
                      <a16:colId xmlns:a16="http://schemas.microsoft.com/office/drawing/2014/main" val="272877520"/>
                    </a:ext>
                  </a:extLst>
                </a:gridCol>
                <a:gridCol w="3008675">
                  <a:extLst>
                    <a:ext uri="{9D8B030D-6E8A-4147-A177-3AD203B41FA5}">
                      <a16:colId xmlns:a16="http://schemas.microsoft.com/office/drawing/2014/main" val="1571049982"/>
                    </a:ext>
                  </a:extLst>
                </a:gridCol>
              </a:tblGrid>
              <a:tr h="225542">
                <a:tc>
                  <a:txBody>
                    <a:bodyPr/>
                    <a:lstStyle/>
                    <a:p>
                      <a:pPr algn="ctr">
                        <a:buNone/>
                      </a:pPr>
                      <a:r>
                        <a:rPr lang="en-IN" sz="1200" b="1" dirty="0">
                          <a:latin typeface="Times New Roman" panose="02020603050405020304" pitchFamily="18" charset="0"/>
                          <a:cs typeface="Times New Roman" panose="02020603050405020304" pitchFamily="18" charset="0"/>
                        </a:rPr>
                        <a:t>S. No</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latin typeface="Times New Roman" panose="02020603050405020304" pitchFamily="18" charset="0"/>
                          <a:cs typeface="Times New Roman" panose="02020603050405020304" pitchFamily="18" charset="0"/>
                        </a:rPr>
                        <a:t>Author(s)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latin typeface="Times New Roman" panose="02020603050405020304" pitchFamily="18" charset="0"/>
                          <a:cs typeface="Times New Roman" panose="02020603050405020304" pitchFamily="18" charset="0"/>
                        </a:rPr>
                        <a:t>Title</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latin typeface="Times New Roman" panose="02020603050405020304" pitchFamily="18" charset="0"/>
                          <a:cs typeface="Times New Roman" panose="02020603050405020304" pitchFamily="18" charset="0"/>
                        </a:rPr>
                        <a:t>Year</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latin typeface="Times New Roman" panose="02020603050405020304" pitchFamily="18" charset="0"/>
                          <a:cs typeface="Times New Roman" panose="02020603050405020304" pitchFamily="18" charset="0"/>
                        </a:rPr>
                        <a:t>Contributions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837083"/>
                  </a:ext>
                </a:extLst>
              </a:tr>
              <a:tr h="813176">
                <a:tc>
                  <a:txBody>
                    <a:bodyPr/>
                    <a:lstStyle/>
                    <a:p>
                      <a:pPr algn="ctr">
                        <a:buNone/>
                      </a:pPr>
                      <a:r>
                        <a:rPr lang="en-IN" sz="1200" dirty="0">
                          <a:latin typeface="Times New Roman" panose="02020603050405020304" pitchFamily="18" charset="0"/>
                          <a:cs typeface="Times New Roman" panose="02020603050405020304" pitchFamily="18" charset="0"/>
                        </a:rPr>
                        <a:t>1</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sv-SE" sz="1200" dirty="0">
                          <a:latin typeface="Times New Roman" panose="02020603050405020304" pitchFamily="18" charset="0"/>
                          <a:cs typeface="Times New Roman" panose="02020603050405020304" pitchFamily="18" charset="0"/>
                        </a:rPr>
                        <a:t>G. Linden, B. Smith, J. York</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"Amazon.com Recommendations: Item-to-Item Collaborative Filtering"</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latin typeface="Times New Roman" panose="02020603050405020304" pitchFamily="18" charset="0"/>
                          <a:cs typeface="Times New Roman" panose="02020603050405020304" pitchFamily="18" charset="0"/>
                        </a:rPr>
                        <a:t>2003</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Introduced item-to-item collaborative filtering used to recommend products based on user behavior.</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473295"/>
                  </a:ext>
                </a:extLst>
              </a:tr>
              <a:tr h="813176">
                <a:tc>
                  <a:txBody>
                    <a:bodyPr/>
                    <a:lstStyle/>
                    <a:p>
                      <a:pPr algn="ctr">
                        <a:buNone/>
                      </a:pPr>
                      <a:r>
                        <a:rPr lang="en-IN" sz="1200" dirty="0">
                          <a:latin typeface="Times New Roman" panose="02020603050405020304" pitchFamily="18" charset="0"/>
                          <a:cs typeface="Times New Roman" panose="02020603050405020304" pitchFamily="18" charset="0"/>
                        </a:rPr>
                        <a:t>2</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latin typeface="Times New Roman" panose="02020603050405020304" pitchFamily="18" charset="0"/>
                          <a:cs typeface="Times New Roman" panose="02020603050405020304" pitchFamily="18" charset="0"/>
                        </a:rPr>
                        <a:t>J. L. Herlocker, J. A. Konstan</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"Evaluating Collaborative Filtering Recommender Systems"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latin typeface="Times New Roman" panose="02020603050405020304" pitchFamily="18" charset="0"/>
                          <a:cs typeface="Times New Roman" panose="02020603050405020304" pitchFamily="18" charset="0"/>
                        </a:rPr>
                        <a:t>2004</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Proposed methods to evaluate recommendation accuracy using user similarity techniques.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443840"/>
                  </a:ext>
                </a:extLst>
              </a:tr>
              <a:tr h="813176">
                <a:tc>
                  <a:txBody>
                    <a:bodyPr/>
                    <a:lstStyle/>
                    <a:p>
                      <a:pPr algn="ctr">
                        <a:buNone/>
                      </a:pPr>
                      <a:r>
                        <a:rPr lang="en-IN" sz="1200" dirty="0">
                          <a:latin typeface="Times New Roman" panose="02020603050405020304" pitchFamily="18" charset="0"/>
                          <a:cs typeface="Times New Roman" panose="02020603050405020304" pitchFamily="18" charset="0"/>
                        </a:rPr>
                        <a:t>3</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latin typeface="Times New Roman" panose="02020603050405020304" pitchFamily="18" charset="0"/>
                          <a:cs typeface="Times New Roman" panose="02020603050405020304" pitchFamily="18" charset="0"/>
                        </a:rPr>
                        <a:t>Y. Koren, R. Bell, C. Volinsky</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a:latin typeface="Times New Roman" panose="02020603050405020304" pitchFamily="18" charset="0"/>
                          <a:cs typeface="Times New Roman" panose="02020603050405020304" pitchFamily="18" charset="0"/>
                        </a:rPr>
                        <a:t>"Matrix Factorization Techniques for Recommender Systems"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latin typeface="Times New Roman" panose="02020603050405020304" pitchFamily="18" charset="0"/>
                          <a:cs typeface="Times New Roman" panose="02020603050405020304" pitchFamily="18" charset="0"/>
                        </a:rPr>
                        <a:t>2009</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Improved recommendation accuracy and scalability using matrix factorization methods.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85026"/>
                  </a:ext>
                </a:extLst>
              </a:tr>
              <a:tr h="933950">
                <a:tc>
                  <a:txBody>
                    <a:bodyPr/>
                    <a:lstStyle/>
                    <a:p>
                      <a:pPr algn="ctr">
                        <a:buNone/>
                      </a:pPr>
                      <a:r>
                        <a:rPr lang="en-IN" sz="1200" dirty="0">
                          <a:latin typeface="Times New Roman" panose="02020603050405020304" pitchFamily="18" charset="0"/>
                          <a:cs typeface="Times New Roman" panose="02020603050405020304" pitchFamily="18" charset="0"/>
                        </a:rPr>
                        <a:t>4</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s-ES" sz="1200">
                          <a:latin typeface="Times New Roman" panose="02020603050405020304" pitchFamily="18" charset="0"/>
                          <a:cs typeface="Times New Roman" panose="02020603050405020304" pitchFamily="18" charset="0"/>
                        </a:rPr>
                        <a:t>X. Su, T. M. Khoshgoftaar</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imes New Roman" panose="02020603050405020304" pitchFamily="18" charset="0"/>
                          <a:cs typeface="Times New Roman" panose="02020603050405020304" pitchFamily="18" charset="0"/>
                        </a:rPr>
                        <a:t>"A Survey of Collaborative Filtering Techniques"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latin typeface="Times New Roman" panose="02020603050405020304" pitchFamily="18" charset="0"/>
                          <a:cs typeface="Times New Roman" panose="02020603050405020304" pitchFamily="18" charset="0"/>
                        </a:rPr>
                        <a:t>2009</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imes New Roman" panose="02020603050405020304" pitchFamily="18" charset="0"/>
                          <a:cs typeface="Times New Roman" panose="02020603050405020304" pitchFamily="18" charset="0"/>
                        </a:rPr>
                        <a:t>Reviewed different collaborative filtering methods including user-based and item-based approaches.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6357848"/>
                  </a:ext>
                </a:extLst>
              </a:tr>
              <a:tr h="1027589">
                <a:tc>
                  <a:txBody>
                    <a:bodyPr/>
                    <a:lstStyle/>
                    <a:p>
                      <a:pPr algn="ctr">
                        <a:buNone/>
                      </a:pPr>
                      <a:r>
                        <a:rPr lang="en-IN" sz="1200" dirty="0">
                          <a:latin typeface="Times New Roman" panose="02020603050405020304" pitchFamily="18" charset="0"/>
                          <a:cs typeface="Times New Roman" panose="02020603050405020304" pitchFamily="18" charset="0"/>
                        </a:rPr>
                        <a:t>5</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s-ES" sz="1200">
                          <a:latin typeface="Times New Roman" panose="02020603050405020304" pitchFamily="18" charset="0"/>
                          <a:cs typeface="Times New Roman" panose="02020603050405020304" pitchFamily="18" charset="0"/>
                        </a:rPr>
                        <a:t>J. Bobadilla, F. Ortega, A. Hernando</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latin typeface="Times New Roman" panose="02020603050405020304" pitchFamily="18" charset="0"/>
                          <a:cs typeface="Times New Roman" panose="02020603050405020304" pitchFamily="18" charset="0"/>
                        </a:rPr>
                        <a:t>"Recommender Systems Survey"</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latin typeface="Times New Roman" panose="02020603050405020304" pitchFamily="18" charset="0"/>
                          <a:cs typeface="Times New Roman" panose="02020603050405020304" pitchFamily="18" charset="0"/>
                        </a:rPr>
                        <a:t>2013</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Provided an overview of recommendation techniques and improvements in collaborative filtering systems.</a:t>
                      </a:r>
                    </a:p>
                  </a:txBody>
                  <a:tcPr marL="42660" marR="42660" marT="21330" marB="21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992444"/>
                  </a:ext>
                </a:extLst>
              </a:tr>
            </a:tbl>
          </a:graphicData>
        </a:graphic>
      </p:graphicFrame>
      <p:sp>
        <p:nvSpPr>
          <p:cNvPr id="6" name="TextBox 5">
            <a:extLst>
              <a:ext uri="{FF2B5EF4-FFF2-40B4-BE49-F238E27FC236}">
                <a16:creationId xmlns:a16="http://schemas.microsoft.com/office/drawing/2014/main" id="{BFE50B30-0AC0-0D5D-028F-F433C7ED4FEE}"/>
              </a:ext>
            </a:extLst>
          </p:cNvPr>
          <p:cNvSpPr txBox="1"/>
          <p:nvPr/>
        </p:nvSpPr>
        <p:spPr>
          <a:xfrm>
            <a:off x="698090" y="206477"/>
            <a:ext cx="10019071"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  Literature Survey</a:t>
            </a:r>
          </a:p>
        </p:txBody>
      </p:sp>
    </p:spTree>
    <p:extLst>
      <p:ext uri="{BB962C8B-B14F-4D97-AF65-F5344CB8AC3E}">
        <p14:creationId xmlns:p14="http://schemas.microsoft.com/office/powerpoint/2010/main" val="3441211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730C2-64C9-AA83-AF04-FC95A340E6C0}"/>
              </a:ext>
            </a:extLst>
          </p:cNvPr>
          <p:cNvSpPr>
            <a:spLocks noGrp="1"/>
          </p:cNvSpPr>
          <p:nvPr>
            <p:ph type="title"/>
          </p:nvPr>
        </p:nvSpPr>
        <p:spPr>
          <a:xfrm>
            <a:off x="838200" y="365126"/>
            <a:ext cx="10515600" cy="1050720"/>
          </a:xfrm>
        </p:spPr>
        <p:txBody>
          <a:bodyPr>
            <a:normAutofit/>
          </a:bodyPr>
          <a:lstStyle/>
          <a:p>
            <a:pPr algn="ctr"/>
            <a:r>
              <a:rPr lang="en-IN" sz="32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0A5D701B-EAA5-DE4D-833D-52168AE6DEB3}"/>
              </a:ext>
            </a:extLst>
          </p:cNvPr>
          <p:cNvSpPr>
            <a:spLocks noGrp="1"/>
          </p:cNvSpPr>
          <p:nvPr>
            <p:ph idx="1"/>
          </p:nvPr>
        </p:nvSpPr>
        <p:spPr>
          <a:xfrm>
            <a:off x="838200" y="1543665"/>
            <a:ext cx="10204048" cy="4633298"/>
          </a:xfrm>
        </p:spPr>
        <p:txBody>
          <a:bodyPr>
            <a:normAutofit/>
          </a:bodyPr>
          <a:lstStyle/>
          <a:p>
            <a:pPr>
              <a:lnSpc>
                <a:spcPct val="110000"/>
              </a:lnSpc>
            </a:pPr>
            <a:r>
              <a:rPr lang="en-US" sz="1800" dirty="0">
                <a:latin typeface="Times New Roman" panose="02020603050405020304" pitchFamily="18" charset="0"/>
                <a:cs typeface="Times New Roman" panose="02020603050405020304" pitchFamily="18" charset="0"/>
              </a:rPr>
              <a:t>The objective of this project is to implement an online book recommendation system using collaborative filtering.</a:t>
            </a:r>
          </a:p>
          <a:p>
            <a:pPr>
              <a:lnSpc>
                <a:spcPct val="110000"/>
              </a:lnSpc>
            </a:pPr>
            <a:r>
              <a:rPr lang="en-US" sz="1800" dirty="0">
                <a:latin typeface="Times New Roman" panose="02020603050405020304" pitchFamily="18" charset="0"/>
                <a:cs typeface="Times New Roman" panose="02020603050405020304" pitchFamily="18" charset="0"/>
              </a:rPr>
              <a:t>In today’s digital world, users are exposed to a large number of books, making it difficult to select relevant ones based on their interests. Existing systems often provide general recommendations and do not effectively analyze user preferences.</a:t>
            </a:r>
          </a:p>
          <a:p>
            <a:pPr>
              <a:lnSpc>
                <a:spcPct val="110000"/>
              </a:lnSpc>
            </a:pPr>
            <a:r>
              <a:rPr lang="en-US" sz="1800" dirty="0">
                <a:latin typeface="Times New Roman" panose="02020603050405020304" pitchFamily="18" charset="0"/>
                <a:cs typeface="Times New Roman" panose="02020603050405020304" pitchFamily="18" charset="0"/>
              </a:rPr>
              <a:t>A recommender system provides personalized suggestions based on user behavior and past interactions. However, traditional systems mainly depend on user ratings and fail when sufficient data is not available.</a:t>
            </a:r>
          </a:p>
          <a:p>
            <a:pPr>
              <a:lnSpc>
                <a:spcPct val="110000"/>
              </a:lnSpc>
            </a:pPr>
            <a:r>
              <a:rPr lang="en-US" sz="1800" dirty="0">
                <a:latin typeface="Times New Roman" panose="02020603050405020304" pitchFamily="18" charset="0"/>
                <a:cs typeface="Times New Roman" panose="02020603050405020304" pitchFamily="18" charset="0"/>
              </a:rPr>
              <a:t>To overcome these limitations, the proposed system uses collaborative filtering to identify similarities between users and items and recommend relevant books.</a:t>
            </a:r>
          </a:p>
          <a:p>
            <a:pPr>
              <a:lnSpc>
                <a:spcPct val="110000"/>
              </a:lnSpc>
            </a:pPr>
            <a:r>
              <a:rPr lang="en-US" sz="1800" dirty="0">
                <a:latin typeface="Times New Roman" panose="02020603050405020304" pitchFamily="18" charset="0"/>
                <a:cs typeface="Times New Roman" panose="02020603050405020304" pitchFamily="18" charset="0"/>
              </a:rPr>
              <a:t>The system aims to improve recommendation accuracy and help users discover suitable books efficiently.</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133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1A19-3866-450E-3DFF-BC59469B8879}"/>
              </a:ext>
            </a:extLst>
          </p:cNvPr>
          <p:cNvSpPr>
            <a:spLocks noGrp="1"/>
          </p:cNvSpPr>
          <p:nvPr>
            <p:ph type="title"/>
          </p:nvPr>
        </p:nvSpPr>
        <p:spPr>
          <a:xfrm>
            <a:off x="838200" y="681036"/>
            <a:ext cx="10515600" cy="341519"/>
          </a:xfrm>
        </p:spPr>
        <p:txBody>
          <a:bodyPr>
            <a:noAutofit/>
          </a:bodyPr>
          <a:lstStyle/>
          <a:p>
            <a:pPr algn="ctr"/>
            <a:r>
              <a:rPr lang="en-IN" sz="3200" b="1" dirty="0">
                <a:latin typeface="Times New Roman" panose="02020603050405020304" pitchFamily="18" charset="0"/>
                <a:cs typeface="Times New Roman" panose="02020603050405020304" pitchFamily="18" charset="0"/>
              </a:rPr>
              <a:t>Existing System and Disadvantages</a:t>
            </a:r>
          </a:p>
        </p:txBody>
      </p:sp>
      <p:sp>
        <p:nvSpPr>
          <p:cNvPr id="3" name="Content Placeholder 2">
            <a:extLst>
              <a:ext uri="{FF2B5EF4-FFF2-40B4-BE49-F238E27FC236}">
                <a16:creationId xmlns:a16="http://schemas.microsoft.com/office/drawing/2014/main" id="{400CA168-F298-E90D-92E7-164A4D6C7246}"/>
              </a:ext>
            </a:extLst>
          </p:cNvPr>
          <p:cNvSpPr>
            <a:spLocks noGrp="1"/>
          </p:cNvSpPr>
          <p:nvPr>
            <p:ph idx="1"/>
          </p:nvPr>
        </p:nvSpPr>
        <p:spPr>
          <a:xfrm>
            <a:off x="838200" y="1474839"/>
            <a:ext cx="10515600" cy="4702124"/>
          </a:xfrm>
        </p:spPr>
        <p:txBody>
          <a:bodyPr>
            <a:normAutofit fontScale="70000" lnSpcReduction="20000"/>
          </a:bodyPr>
          <a:lstStyle/>
          <a:p>
            <a:pPr>
              <a:lnSpc>
                <a:spcPct val="120000"/>
              </a:lnSpc>
            </a:pPr>
            <a:r>
              <a:rPr lang="en-US" sz="2600" dirty="0">
                <a:latin typeface="Times New Roman" panose="02020603050405020304" pitchFamily="18" charset="0"/>
                <a:cs typeface="Times New Roman" panose="02020603050405020304" pitchFamily="18" charset="0"/>
              </a:rPr>
              <a:t>Current book recommendation systems often rely on traditional methods such as popularity-based suggestions and manual curation, which present several limitations:</a:t>
            </a:r>
          </a:p>
          <a:p>
            <a:pPr>
              <a:lnSpc>
                <a:spcPct val="120000"/>
              </a:lnSpc>
            </a:pPr>
            <a:r>
              <a:rPr lang="en-US" sz="2600" b="1" dirty="0">
                <a:latin typeface="Times New Roman" panose="02020603050405020304" pitchFamily="18" charset="0"/>
                <a:cs typeface="Times New Roman" panose="02020603050405020304" pitchFamily="18" charset="0"/>
              </a:rPr>
              <a:t>Lack of Personalization:</a:t>
            </a:r>
            <a:r>
              <a:rPr lang="en-US" sz="2600" dirty="0">
                <a:latin typeface="Times New Roman" panose="02020603050405020304" pitchFamily="18" charset="0"/>
                <a:cs typeface="Times New Roman" panose="02020603050405020304" pitchFamily="18" charset="0"/>
              </a:rPr>
              <a:t> Traditional systems provide the same recommendations to all users without analyzing individual preferences or behavior.</a:t>
            </a:r>
          </a:p>
          <a:p>
            <a:pPr>
              <a:lnSpc>
                <a:spcPct val="120000"/>
              </a:lnSpc>
            </a:pPr>
            <a:r>
              <a:rPr lang="en-US" sz="2600" b="1" dirty="0">
                <a:latin typeface="Times New Roman" panose="02020603050405020304" pitchFamily="18" charset="0"/>
                <a:cs typeface="Times New Roman" panose="02020603050405020304" pitchFamily="18" charset="0"/>
              </a:rPr>
              <a:t>Lower Recommendation Accuracy:</a:t>
            </a:r>
            <a:r>
              <a:rPr lang="en-US" sz="2600" dirty="0">
                <a:latin typeface="Times New Roman" panose="02020603050405020304" pitchFamily="18" charset="0"/>
                <a:cs typeface="Times New Roman" panose="02020603050405020304" pitchFamily="18" charset="0"/>
              </a:rPr>
              <a:t> Since recommendations are based on general trends rather than user-specific data, the accuracy of suggestions is limited.</a:t>
            </a:r>
          </a:p>
          <a:p>
            <a:pPr>
              <a:lnSpc>
                <a:spcPct val="120000"/>
              </a:lnSpc>
            </a:pPr>
            <a:r>
              <a:rPr lang="en-US" sz="2600" b="1" dirty="0">
                <a:latin typeface="Times New Roman" panose="02020603050405020304" pitchFamily="18" charset="0"/>
                <a:cs typeface="Times New Roman" panose="02020603050405020304" pitchFamily="18" charset="0"/>
              </a:rPr>
              <a:t>No Intelligent Learning:</a:t>
            </a:r>
            <a:r>
              <a:rPr lang="en-US" sz="2600" dirty="0">
                <a:latin typeface="Times New Roman" panose="02020603050405020304" pitchFamily="18" charset="0"/>
                <a:cs typeface="Times New Roman" panose="02020603050405020304" pitchFamily="18" charset="0"/>
              </a:rPr>
              <a:t> Existing systems do not use machine learning techniques to adapt and improve recommendations over time.</a:t>
            </a:r>
          </a:p>
          <a:p>
            <a:pPr>
              <a:lnSpc>
                <a:spcPct val="120000"/>
              </a:lnSpc>
            </a:pPr>
            <a:r>
              <a:rPr lang="en-US" sz="2600" b="1" dirty="0">
                <a:latin typeface="Times New Roman" panose="02020603050405020304" pitchFamily="18" charset="0"/>
                <a:cs typeface="Times New Roman" panose="02020603050405020304" pitchFamily="18" charset="0"/>
              </a:rPr>
              <a:t>No NLP-Based Summary Generation:</a:t>
            </a:r>
            <a:r>
              <a:rPr lang="en-US" sz="2600" dirty="0">
                <a:latin typeface="Times New Roman" panose="02020603050405020304" pitchFamily="18" charset="0"/>
                <a:cs typeface="Times New Roman" panose="02020603050405020304" pitchFamily="18" charset="0"/>
              </a:rPr>
              <a:t> These systems do not generate book summaries using Natural Language Processing, making it difficult for users to quickly understand the content of a book.</a:t>
            </a:r>
          </a:p>
          <a:p>
            <a:pPr>
              <a:lnSpc>
                <a:spcPct val="120000"/>
              </a:lnSpc>
            </a:pPr>
            <a:r>
              <a:rPr lang="en-US" sz="2600" b="1" dirty="0">
                <a:latin typeface="Times New Roman" panose="02020603050405020304" pitchFamily="18" charset="0"/>
                <a:cs typeface="Times New Roman" panose="02020603050405020304" pitchFamily="18" charset="0"/>
              </a:rPr>
              <a:t>Time-Consuming Search Process:</a:t>
            </a:r>
            <a:r>
              <a:rPr lang="en-US" sz="2600" dirty="0">
                <a:latin typeface="Times New Roman" panose="02020603050405020304" pitchFamily="18" charset="0"/>
                <a:cs typeface="Times New Roman" panose="02020603050405020304" pitchFamily="18" charset="0"/>
              </a:rPr>
              <a:t> Users must manually browse and search for books, which reduces efficiency.</a:t>
            </a:r>
          </a:p>
          <a:p>
            <a:pPr>
              <a:lnSpc>
                <a:spcPct val="120000"/>
              </a:lnSpc>
            </a:pPr>
            <a:r>
              <a:rPr lang="en-US" sz="2600" b="1" dirty="0">
                <a:latin typeface="Times New Roman" panose="02020603050405020304" pitchFamily="18" charset="0"/>
                <a:cs typeface="Times New Roman" panose="02020603050405020304" pitchFamily="18" charset="0"/>
              </a:rPr>
              <a:t>Poor User Engagement:</a:t>
            </a:r>
            <a:r>
              <a:rPr lang="en-US" sz="2600" dirty="0">
                <a:latin typeface="Times New Roman" panose="02020603050405020304" pitchFamily="18" charset="0"/>
                <a:cs typeface="Times New Roman" panose="02020603050405020304" pitchFamily="18" charset="0"/>
              </a:rPr>
              <a:t> Due to lack of personalization and intelligent features, user interaction and satisfaction remain low.</a:t>
            </a:r>
          </a:p>
          <a:p>
            <a:endParaRPr lang="en-IN" dirty="0"/>
          </a:p>
        </p:txBody>
      </p:sp>
    </p:spTree>
    <p:extLst>
      <p:ext uri="{BB962C8B-B14F-4D97-AF65-F5344CB8AC3E}">
        <p14:creationId xmlns:p14="http://schemas.microsoft.com/office/powerpoint/2010/main" val="1825470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CB13F-F101-E5D8-DD3F-26F1DCFC0BF0}"/>
              </a:ext>
            </a:extLst>
          </p:cNvPr>
          <p:cNvSpPr>
            <a:spLocks noGrp="1"/>
          </p:cNvSpPr>
          <p:nvPr>
            <p:ph type="title"/>
          </p:nvPr>
        </p:nvSpPr>
        <p:spPr>
          <a:xfrm>
            <a:off x="838200" y="747252"/>
            <a:ext cx="10515600" cy="835742"/>
          </a:xfrm>
        </p:spPr>
        <p:txBody>
          <a:bodyPr>
            <a:normAutofit/>
          </a:bodyPr>
          <a:lstStyle/>
          <a:p>
            <a:pPr algn="ctr"/>
            <a:r>
              <a:rPr lang="en-IN" sz="32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94744BF8-F692-87AD-8BA9-C69FB69BC236}"/>
              </a:ext>
            </a:extLst>
          </p:cNvPr>
          <p:cNvSpPr>
            <a:spLocks noGrp="1"/>
          </p:cNvSpPr>
          <p:nvPr>
            <p:ph idx="1"/>
          </p:nvPr>
        </p:nvSpPr>
        <p:spPr>
          <a:xfrm>
            <a:off x="838200" y="1897626"/>
            <a:ext cx="10515600" cy="3136490"/>
          </a:xfrm>
        </p:spPr>
        <p:txBody>
          <a:bodyPr>
            <a:normAutofit/>
          </a:bodyPr>
          <a:lstStyle/>
          <a:p>
            <a:pPr algn="just">
              <a:lnSpc>
                <a:spcPct val="100000"/>
              </a:lnSpc>
            </a:pPr>
            <a:r>
              <a:rPr lang="en-US" sz="1800" dirty="0">
                <a:latin typeface="Times New Roman" panose="02020603050405020304" pitchFamily="18" charset="0"/>
                <a:cs typeface="Times New Roman" panose="02020603050405020304" pitchFamily="18" charset="0"/>
              </a:rPr>
              <a:t>It analyzes user ratings and preferences to find similarities between books using cosine similarity. Based on these similarities, the system recommends relevant books to users.</a:t>
            </a:r>
          </a:p>
          <a:p>
            <a:pPr algn="just">
              <a:lnSpc>
                <a:spcPct val="100000"/>
              </a:lnSpc>
            </a:pPr>
            <a:r>
              <a:rPr lang="en-US" sz="1800" dirty="0">
                <a:latin typeface="Times New Roman" panose="02020603050405020304" pitchFamily="18" charset="0"/>
                <a:cs typeface="Times New Roman" panose="02020603050405020304" pitchFamily="18" charset="0"/>
              </a:rPr>
              <a:t>The system uses item-based collaborative filtering to generate accurate recommendations from large datasets.</a:t>
            </a:r>
          </a:p>
          <a:p>
            <a:pPr algn="just">
              <a:lnSpc>
                <a:spcPct val="100000"/>
              </a:lnSpc>
            </a:pPr>
            <a:r>
              <a:rPr lang="en-US" sz="1800" dirty="0">
                <a:latin typeface="Times New Roman" panose="02020603050405020304" pitchFamily="18" charset="0"/>
                <a:cs typeface="Times New Roman" panose="02020603050405020304" pitchFamily="18" charset="0"/>
              </a:rPr>
              <a:t>It also includes NLP-based book summary generation, helping users quickly understand book content.</a:t>
            </a:r>
          </a:p>
          <a:p>
            <a:pPr algn="just">
              <a:lnSpc>
                <a:spcPct val="100000"/>
              </a:lnSpc>
            </a:pPr>
            <a:r>
              <a:rPr lang="en-US" sz="1800" dirty="0">
                <a:latin typeface="Times New Roman" panose="02020603050405020304" pitchFamily="18" charset="0"/>
                <a:cs typeface="Times New Roman" panose="02020603050405020304" pitchFamily="18" charset="0"/>
              </a:rPr>
              <a:t>The proposed system is an online book recommendation system based on collaborative filtering.</a:t>
            </a:r>
          </a:p>
          <a:p>
            <a:pPr algn="just">
              <a:lnSpc>
                <a:spcPct val="100000"/>
              </a:lnSpc>
            </a:pPr>
            <a:r>
              <a:rPr lang="en-US" sz="1800" dirty="0">
                <a:latin typeface="Times New Roman" panose="02020603050405020304" pitchFamily="18" charset="0"/>
                <a:cs typeface="Times New Roman" panose="02020603050405020304" pitchFamily="18" charset="0"/>
              </a:rPr>
              <a:t>This approach improves recommendation accuracy and enhances user experience.</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436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C9687-D8CA-0330-1BCD-F66227B30E49}"/>
              </a:ext>
            </a:extLst>
          </p:cNvPr>
          <p:cNvSpPr>
            <a:spLocks noGrp="1"/>
          </p:cNvSpPr>
          <p:nvPr>
            <p:ph type="title"/>
          </p:nvPr>
        </p:nvSpPr>
        <p:spPr>
          <a:xfrm>
            <a:off x="838200" y="365125"/>
            <a:ext cx="10515600" cy="1168707"/>
          </a:xfrm>
        </p:spPr>
        <p:txBody>
          <a:bodyPr>
            <a:normAutofit/>
          </a:bodyPr>
          <a:lstStyle/>
          <a:p>
            <a:pPr algn="ctr"/>
            <a:r>
              <a:rPr lang="en-IN" sz="3200" b="1" dirty="0">
                <a:latin typeface="Times New Roman" panose="02020603050405020304" pitchFamily="18" charset="0"/>
                <a:cs typeface="Times New Roman" panose="02020603050405020304" pitchFamily="18" charset="0"/>
              </a:rPr>
              <a:t>System</a:t>
            </a: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architecture</a:t>
            </a:r>
          </a:p>
        </p:txBody>
      </p:sp>
      <p:pic>
        <p:nvPicPr>
          <p:cNvPr id="5" name="Picture 4">
            <a:extLst>
              <a:ext uri="{FF2B5EF4-FFF2-40B4-BE49-F238E27FC236}">
                <a16:creationId xmlns:a16="http://schemas.microsoft.com/office/drawing/2014/main" id="{1F2AC7A8-E696-A00E-EFDF-80CB5296C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2874" y="1415843"/>
            <a:ext cx="4493035" cy="4798143"/>
          </a:xfrm>
          <a:prstGeom prst="rect">
            <a:avLst/>
          </a:prstGeom>
        </p:spPr>
      </p:pic>
    </p:spTree>
    <p:extLst>
      <p:ext uri="{BB962C8B-B14F-4D97-AF65-F5344CB8AC3E}">
        <p14:creationId xmlns:p14="http://schemas.microsoft.com/office/powerpoint/2010/main" val="35424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ADD7D-ACAD-6816-1FD6-3C3D3A069886}"/>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Tech Stack</a:t>
            </a:r>
          </a:p>
        </p:txBody>
      </p:sp>
      <p:sp>
        <p:nvSpPr>
          <p:cNvPr id="3" name="Content Placeholder 2">
            <a:extLst>
              <a:ext uri="{FF2B5EF4-FFF2-40B4-BE49-F238E27FC236}">
                <a16:creationId xmlns:a16="http://schemas.microsoft.com/office/drawing/2014/main" id="{2D6A2B13-00D7-5347-8EFC-5A6D5ADB8F36}"/>
              </a:ext>
            </a:extLst>
          </p:cNvPr>
          <p:cNvSpPr>
            <a:spLocks noGrp="1"/>
          </p:cNvSpPr>
          <p:nvPr>
            <p:ph sz="half" idx="1"/>
          </p:nvPr>
        </p:nvSpPr>
        <p:spPr>
          <a:xfrm>
            <a:off x="1868130" y="1825625"/>
            <a:ext cx="4151670" cy="4351338"/>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Frontend</a:t>
            </a:r>
          </a:p>
          <a:p>
            <a:r>
              <a:rPr lang="en-IN" sz="1800" dirty="0">
                <a:latin typeface="Times New Roman" panose="02020603050405020304" pitchFamily="18" charset="0"/>
                <a:cs typeface="Times New Roman" panose="02020603050405020304" pitchFamily="18" charset="0"/>
              </a:rPr>
              <a:t>HTML </a:t>
            </a:r>
          </a:p>
          <a:p>
            <a:r>
              <a:rPr lang="en-IN" sz="1800" dirty="0">
                <a:latin typeface="Times New Roman" panose="02020603050405020304" pitchFamily="18" charset="0"/>
                <a:cs typeface="Times New Roman" panose="02020603050405020304" pitchFamily="18" charset="0"/>
              </a:rPr>
              <a:t>CSS </a:t>
            </a:r>
          </a:p>
          <a:p>
            <a:r>
              <a:rPr lang="en-IN" sz="1800" dirty="0">
                <a:latin typeface="Times New Roman" panose="02020603050405020304" pitchFamily="18" charset="0"/>
                <a:cs typeface="Times New Roman" panose="02020603050405020304" pitchFamily="18" charset="0"/>
              </a:rPr>
              <a:t>Bootstrap </a:t>
            </a:r>
          </a:p>
          <a:p>
            <a:r>
              <a:rPr lang="en-IN" sz="1800" dirty="0">
                <a:latin typeface="Times New Roman" panose="02020603050405020304" pitchFamily="18" charset="0"/>
                <a:cs typeface="Times New Roman" panose="02020603050405020304" pitchFamily="18" charset="0"/>
              </a:rPr>
              <a:t>JavaScript </a:t>
            </a:r>
          </a:p>
          <a:p>
            <a:r>
              <a:rPr lang="en-IN" sz="1800" dirty="0">
                <a:latin typeface="Times New Roman" panose="02020603050405020304" pitchFamily="18" charset="0"/>
                <a:cs typeface="Times New Roman" panose="02020603050405020304" pitchFamily="18" charset="0"/>
              </a:rPr>
              <a:t>Jinja2 (Flask Templates) </a:t>
            </a:r>
          </a:p>
          <a:p>
            <a:pPr marL="0" indent="0">
              <a:buNone/>
            </a:pPr>
            <a:r>
              <a:rPr lang="en-IN" sz="1800" b="1" dirty="0">
                <a:latin typeface="Times New Roman" panose="02020603050405020304" pitchFamily="18" charset="0"/>
                <a:cs typeface="Times New Roman" panose="02020603050405020304" pitchFamily="18" charset="0"/>
              </a:rPr>
              <a:t>Backend</a:t>
            </a:r>
          </a:p>
          <a:p>
            <a:r>
              <a:rPr lang="en-IN" sz="1800" dirty="0">
                <a:latin typeface="Times New Roman" panose="02020603050405020304" pitchFamily="18" charset="0"/>
                <a:cs typeface="Times New Roman" panose="02020603050405020304" pitchFamily="18" charset="0"/>
              </a:rPr>
              <a:t>Python </a:t>
            </a:r>
          </a:p>
          <a:p>
            <a:r>
              <a:rPr lang="en-IN" sz="1800" dirty="0">
                <a:latin typeface="Times New Roman" panose="02020603050405020304" pitchFamily="18" charset="0"/>
                <a:cs typeface="Times New Roman" panose="02020603050405020304" pitchFamily="18" charset="0"/>
              </a:rPr>
              <a:t>Flask (Web Framework) </a:t>
            </a:r>
          </a:p>
          <a:p>
            <a:pPr marL="0" indent="0">
              <a:buNone/>
            </a:pPr>
            <a:r>
              <a:rPr lang="en-IN" sz="1800" b="1" dirty="0">
                <a:latin typeface="Times New Roman" panose="02020603050405020304" pitchFamily="18" charset="0"/>
                <a:cs typeface="Times New Roman" panose="02020603050405020304" pitchFamily="18" charset="0"/>
              </a:rPr>
              <a:t>Machine Learning</a:t>
            </a:r>
          </a:p>
          <a:p>
            <a:r>
              <a:rPr lang="en-IN" sz="1800" dirty="0">
                <a:latin typeface="Times New Roman" panose="02020603050405020304" pitchFamily="18" charset="0"/>
                <a:cs typeface="Times New Roman" panose="02020603050405020304" pitchFamily="18" charset="0"/>
              </a:rPr>
              <a:t>Collaborative Filtering </a:t>
            </a:r>
          </a:p>
          <a:p>
            <a:r>
              <a:rPr lang="en-IN" sz="1800" dirty="0">
                <a:latin typeface="Times New Roman" panose="02020603050405020304" pitchFamily="18" charset="0"/>
                <a:cs typeface="Times New Roman" panose="02020603050405020304" pitchFamily="18" charset="0"/>
              </a:rPr>
              <a:t>Cosine Similarity</a:t>
            </a:r>
          </a:p>
          <a:p>
            <a:endParaRPr lang="en-IN"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3A0FF0-5EA1-9A3C-8E74-DD9E0814FAEB}"/>
              </a:ext>
            </a:extLst>
          </p:cNvPr>
          <p:cNvSpPr>
            <a:spLocks noGrp="1"/>
          </p:cNvSpPr>
          <p:nvPr>
            <p:ph sz="half" idx="2"/>
          </p:nvPr>
        </p:nvSpPr>
        <p:spPr>
          <a:xfrm>
            <a:off x="6902244" y="1825625"/>
            <a:ext cx="4451555" cy="4351338"/>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Libraries Used</a:t>
            </a:r>
          </a:p>
          <a:p>
            <a:r>
              <a:rPr lang="en-IN" sz="1800" dirty="0">
                <a:latin typeface="Times New Roman" panose="02020603050405020304" pitchFamily="18" charset="0"/>
                <a:cs typeface="Times New Roman" panose="02020603050405020304" pitchFamily="18" charset="0"/>
              </a:rPr>
              <a:t>Pandas (Data Processing) </a:t>
            </a:r>
          </a:p>
          <a:p>
            <a:r>
              <a:rPr lang="en-IN" sz="1800" dirty="0">
                <a:latin typeface="Times New Roman" panose="02020603050405020304" pitchFamily="18" charset="0"/>
                <a:cs typeface="Times New Roman" panose="02020603050405020304" pitchFamily="18" charset="0"/>
              </a:rPr>
              <a:t>NumPy (Numerical Operations) </a:t>
            </a:r>
          </a:p>
          <a:p>
            <a:r>
              <a:rPr lang="en-IN" sz="1800" dirty="0">
                <a:latin typeface="Times New Roman" panose="02020603050405020304" pitchFamily="18" charset="0"/>
                <a:cs typeface="Times New Roman" panose="02020603050405020304" pitchFamily="18" charset="0"/>
              </a:rPr>
              <a:t>Scikit-learn (Similarity Calculation) </a:t>
            </a:r>
          </a:p>
          <a:p>
            <a:r>
              <a:rPr lang="en-IN" sz="1800" dirty="0">
                <a:latin typeface="Times New Roman" panose="02020603050405020304" pitchFamily="18" charset="0"/>
                <a:cs typeface="Times New Roman" panose="02020603050405020304" pitchFamily="18" charset="0"/>
              </a:rPr>
              <a:t>Pickle (Model Storage) </a:t>
            </a:r>
          </a:p>
          <a:p>
            <a:pPr marL="0" indent="0">
              <a:buNone/>
            </a:pPr>
            <a:r>
              <a:rPr lang="en-IN" sz="1800" b="1" dirty="0">
                <a:latin typeface="Times New Roman" panose="02020603050405020304" pitchFamily="18" charset="0"/>
                <a:cs typeface="Times New Roman" panose="02020603050405020304" pitchFamily="18" charset="0"/>
              </a:rPr>
              <a:t>Natural Language Processing</a:t>
            </a:r>
          </a:p>
          <a:p>
            <a:r>
              <a:rPr lang="en-IN" sz="1800" dirty="0">
                <a:latin typeface="Times New Roman" panose="02020603050405020304" pitchFamily="18" charset="0"/>
                <a:cs typeface="Times New Roman" panose="02020603050405020304" pitchFamily="18" charset="0"/>
              </a:rPr>
              <a:t>NLP techniques for book summary generation</a:t>
            </a:r>
          </a:p>
          <a:p>
            <a:pPr marL="0" indent="0">
              <a:buNone/>
            </a:pPr>
            <a:r>
              <a:rPr lang="en-IN" sz="1800" b="1" dirty="0">
                <a:latin typeface="Times New Roman" panose="02020603050405020304" pitchFamily="18" charset="0"/>
                <a:cs typeface="Times New Roman" panose="02020603050405020304" pitchFamily="18" charset="0"/>
              </a:rPr>
              <a:t>Database</a:t>
            </a:r>
          </a:p>
          <a:p>
            <a:r>
              <a:rPr lang="en-IN" sz="1800" dirty="0">
                <a:latin typeface="Times New Roman" panose="02020603050405020304" pitchFamily="18" charset="0"/>
                <a:cs typeface="Times New Roman" panose="02020603050405020304" pitchFamily="18" charset="0"/>
              </a:rPr>
              <a:t>SQLite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532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862BAA-D026-CD64-7C68-761943E45837}"/>
              </a:ext>
            </a:extLst>
          </p:cNvPr>
          <p:cNvSpPr txBox="1"/>
          <p:nvPr/>
        </p:nvSpPr>
        <p:spPr>
          <a:xfrm>
            <a:off x="4257368" y="324466"/>
            <a:ext cx="390340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Work Flow Diagram</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3A17098-BEA8-81DD-7BEA-82BEAACB73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9422" y="1207911"/>
            <a:ext cx="5846198" cy="5407378"/>
          </a:xfrm>
          <a:prstGeom prst="rect">
            <a:avLst/>
          </a:prstGeom>
        </p:spPr>
      </p:pic>
    </p:spTree>
    <p:extLst>
      <p:ext uri="{BB962C8B-B14F-4D97-AF65-F5344CB8AC3E}">
        <p14:creationId xmlns:p14="http://schemas.microsoft.com/office/powerpoint/2010/main" val="197565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B0D2-F585-5424-A19C-A35F8126EDE5}"/>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System Output</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ECA3BB-9AA9-4713-0ED0-7A185342309A}"/>
              </a:ext>
            </a:extLst>
          </p:cNvPr>
          <p:cNvPicPr>
            <a:picLocks noChangeAspect="1"/>
          </p:cNvPicPr>
          <p:nvPr/>
        </p:nvPicPr>
        <p:blipFill>
          <a:blip r:embed="rId2"/>
          <a:srcRect b="6256"/>
          <a:stretch>
            <a:fillRect/>
          </a:stretch>
        </p:blipFill>
        <p:spPr>
          <a:xfrm>
            <a:off x="2084440" y="1690688"/>
            <a:ext cx="8445908" cy="4454472"/>
          </a:xfrm>
          <a:prstGeom prst="rect">
            <a:avLst/>
          </a:prstGeom>
        </p:spPr>
      </p:pic>
    </p:spTree>
    <p:extLst>
      <p:ext uri="{BB962C8B-B14F-4D97-AF65-F5344CB8AC3E}">
        <p14:creationId xmlns:p14="http://schemas.microsoft.com/office/powerpoint/2010/main" val="520660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A2966B-2EF0-A653-E4A4-AB82B50EED14}"/>
              </a:ext>
            </a:extLst>
          </p:cNvPr>
          <p:cNvPicPr>
            <a:picLocks noChangeAspect="1"/>
          </p:cNvPicPr>
          <p:nvPr/>
        </p:nvPicPr>
        <p:blipFill>
          <a:blip r:embed="rId2"/>
          <a:srcRect b="5908"/>
          <a:stretch>
            <a:fillRect/>
          </a:stretch>
        </p:blipFill>
        <p:spPr>
          <a:xfrm>
            <a:off x="226146" y="1449029"/>
            <a:ext cx="5771532" cy="4112342"/>
          </a:xfrm>
          <a:prstGeom prst="rect">
            <a:avLst/>
          </a:prstGeom>
        </p:spPr>
      </p:pic>
      <p:sp>
        <p:nvSpPr>
          <p:cNvPr id="9" name="TextBox 8">
            <a:extLst>
              <a:ext uri="{FF2B5EF4-FFF2-40B4-BE49-F238E27FC236}">
                <a16:creationId xmlns:a16="http://schemas.microsoft.com/office/drawing/2014/main" id="{036CF951-4DB1-A237-64C9-3DE76719D1F1}"/>
              </a:ext>
            </a:extLst>
          </p:cNvPr>
          <p:cNvSpPr txBox="1"/>
          <p:nvPr/>
        </p:nvSpPr>
        <p:spPr>
          <a:xfrm>
            <a:off x="4100051" y="599768"/>
            <a:ext cx="4650659"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Register &amp; Login Page</a:t>
            </a:r>
          </a:p>
        </p:txBody>
      </p:sp>
      <p:pic>
        <p:nvPicPr>
          <p:cNvPr id="4" name="Picture 3">
            <a:extLst>
              <a:ext uri="{FF2B5EF4-FFF2-40B4-BE49-F238E27FC236}">
                <a16:creationId xmlns:a16="http://schemas.microsoft.com/office/drawing/2014/main" id="{9826D90C-5A01-007C-0139-89D6A37A2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4324" y="1449029"/>
            <a:ext cx="5678127" cy="4112342"/>
          </a:xfrm>
          <a:prstGeom prst="rect">
            <a:avLst/>
          </a:prstGeom>
        </p:spPr>
      </p:pic>
    </p:spTree>
    <p:extLst>
      <p:ext uri="{BB962C8B-B14F-4D97-AF65-F5344CB8AC3E}">
        <p14:creationId xmlns:p14="http://schemas.microsoft.com/office/powerpoint/2010/main" val="3448158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7EDADF-9432-92E0-431B-820F71031925}"/>
              </a:ext>
            </a:extLst>
          </p:cNvPr>
          <p:cNvPicPr>
            <a:picLocks noChangeAspect="1"/>
          </p:cNvPicPr>
          <p:nvPr/>
        </p:nvPicPr>
        <p:blipFill>
          <a:blip r:embed="rId2"/>
          <a:stretch>
            <a:fillRect/>
          </a:stretch>
        </p:blipFill>
        <p:spPr>
          <a:xfrm>
            <a:off x="226143" y="1887793"/>
            <a:ext cx="5869857" cy="3716594"/>
          </a:xfrm>
          <a:prstGeom prst="rect">
            <a:avLst/>
          </a:prstGeom>
        </p:spPr>
      </p:pic>
      <p:pic>
        <p:nvPicPr>
          <p:cNvPr id="5" name="Picture 4">
            <a:extLst>
              <a:ext uri="{FF2B5EF4-FFF2-40B4-BE49-F238E27FC236}">
                <a16:creationId xmlns:a16="http://schemas.microsoft.com/office/drawing/2014/main" id="{88B6EC17-8E40-A78D-76A7-611E34186DF4}"/>
              </a:ext>
            </a:extLst>
          </p:cNvPr>
          <p:cNvPicPr>
            <a:picLocks noChangeAspect="1"/>
          </p:cNvPicPr>
          <p:nvPr/>
        </p:nvPicPr>
        <p:blipFill>
          <a:blip r:embed="rId3"/>
          <a:stretch>
            <a:fillRect/>
          </a:stretch>
        </p:blipFill>
        <p:spPr>
          <a:xfrm>
            <a:off x="6322142" y="1887793"/>
            <a:ext cx="5722373" cy="3716594"/>
          </a:xfrm>
          <a:prstGeom prst="rect">
            <a:avLst/>
          </a:prstGeom>
        </p:spPr>
      </p:pic>
      <p:sp>
        <p:nvSpPr>
          <p:cNvPr id="6" name="TextBox 5">
            <a:extLst>
              <a:ext uri="{FF2B5EF4-FFF2-40B4-BE49-F238E27FC236}">
                <a16:creationId xmlns:a16="http://schemas.microsoft.com/office/drawing/2014/main" id="{B78EBCCA-14C8-424B-847E-EF0C31981D98}"/>
              </a:ext>
            </a:extLst>
          </p:cNvPr>
          <p:cNvSpPr txBox="1"/>
          <p:nvPr/>
        </p:nvSpPr>
        <p:spPr>
          <a:xfrm>
            <a:off x="3401961" y="904567"/>
            <a:ext cx="633197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Book Recommendation Results</a:t>
            </a:r>
          </a:p>
        </p:txBody>
      </p:sp>
    </p:spTree>
    <p:extLst>
      <p:ext uri="{BB962C8B-B14F-4D97-AF65-F5344CB8AC3E}">
        <p14:creationId xmlns:p14="http://schemas.microsoft.com/office/powerpoint/2010/main" val="3824704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F2E48F-F5F0-22C7-F576-CE51FC0A8344}"/>
              </a:ext>
            </a:extLst>
          </p:cNvPr>
          <p:cNvPicPr>
            <a:picLocks noChangeAspect="1"/>
          </p:cNvPicPr>
          <p:nvPr/>
        </p:nvPicPr>
        <p:blipFill>
          <a:blip r:embed="rId2"/>
          <a:stretch>
            <a:fillRect/>
          </a:stretch>
        </p:blipFill>
        <p:spPr>
          <a:xfrm>
            <a:off x="393290" y="1494504"/>
            <a:ext cx="5702710" cy="3352800"/>
          </a:xfrm>
          <a:prstGeom prst="rect">
            <a:avLst/>
          </a:prstGeom>
        </p:spPr>
      </p:pic>
      <p:pic>
        <p:nvPicPr>
          <p:cNvPr id="5" name="Picture 4">
            <a:extLst>
              <a:ext uri="{FF2B5EF4-FFF2-40B4-BE49-F238E27FC236}">
                <a16:creationId xmlns:a16="http://schemas.microsoft.com/office/drawing/2014/main" id="{2B86F9F3-20A2-29D9-707F-9CA64944BA23}"/>
              </a:ext>
            </a:extLst>
          </p:cNvPr>
          <p:cNvPicPr>
            <a:picLocks noChangeAspect="1"/>
          </p:cNvPicPr>
          <p:nvPr/>
        </p:nvPicPr>
        <p:blipFill>
          <a:blip r:embed="rId3"/>
          <a:srcRect l="16155" r="16897" b="11362"/>
          <a:stretch>
            <a:fillRect/>
          </a:stretch>
        </p:blipFill>
        <p:spPr>
          <a:xfrm>
            <a:off x="6312310" y="1494504"/>
            <a:ext cx="5565058" cy="3352800"/>
          </a:xfrm>
          <a:prstGeom prst="rect">
            <a:avLst/>
          </a:prstGeom>
        </p:spPr>
      </p:pic>
      <p:sp>
        <p:nvSpPr>
          <p:cNvPr id="6" name="TextBox 5">
            <a:extLst>
              <a:ext uri="{FF2B5EF4-FFF2-40B4-BE49-F238E27FC236}">
                <a16:creationId xmlns:a16="http://schemas.microsoft.com/office/drawing/2014/main" id="{6F5DE227-D76F-551E-4A20-B994FBF87DFE}"/>
              </a:ext>
            </a:extLst>
          </p:cNvPr>
          <p:cNvSpPr txBox="1"/>
          <p:nvPr/>
        </p:nvSpPr>
        <p:spPr>
          <a:xfrm>
            <a:off x="3175819" y="599768"/>
            <a:ext cx="6253316"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Book Recommendation Results</a:t>
            </a:r>
          </a:p>
        </p:txBody>
      </p:sp>
    </p:spTree>
    <p:extLst>
      <p:ext uri="{BB962C8B-B14F-4D97-AF65-F5344CB8AC3E}">
        <p14:creationId xmlns:p14="http://schemas.microsoft.com/office/powerpoint/2010/main" val="3396558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7EF234-53E0-1D87-5F52-1C16168507DA}"/>
              </a:ext>
            </a:extLst>
          </p:cNvPr>
          <p:cNvPicPr>
            <a:picLocks noChangeAspect="1"/>
          </p:cNvPicPr>
          <p:nvPr/>
        </p:nvPicPr>
        <p:blipFill>
          <a:blip r:embed="rId2"/>
          <a:stretch>
            <a:fillRect/>
          </a:stretch>
        </p:blipFill>
        <p:spPr>
          <a:xfrm>
            <a:off x="235974" y="1517857"/>
            <a:ext cx="5614220" cy="3478776"/>
          </a:xfrm>
          <a:prstGeom prst="rect">
            <a:avLst/>
          </a:prstGeom>
        </p:spPr>
      </p:pic>
      <p:pic>
        <p:nvPicPr>
          <p:cNvPr id="5" name="Picture 4">
            <a:extLst>
              <a:ext uri="{FF2B5EF4-FFF2-40B4-BE49-F238E27FC236}">
                <a16:creationId xmlns:a16="http://schemas.microsoft.com/office/drawing/2014/main" id="{7ED9FC7B-192B-FFB9-AFA0-9E23B04694E4}"/>
              </a:ext>
            </a:extLst>
          </p:cNvPr>
          <p:cNvPicPr>
            <a:picLocks noChangeAspect="1"/>
          </p:cNvPicPr>
          <p:nvPr/>
        </p:nvPicPr>
        <p:blipFill>
          <a:blip r:embed="rId3"/>
          <a:stretch>
            <a:fillRect/>
          </a:stretch>
        </p:blipFill>
        <p:spPr>
          <a:xfrm>
            <a:off x="6017342" y="1517857"/>
            <a:ext cx="5771535" cy="3478776"/>
          </a:xfrm>
          <a:prstGeom prst="rect">
            <a:avLst/>
          </a:prstGeom>
        </p:spPr>
      </p:pic>
      <p:sp>
        <p:nvSpPr>
          <p:cNvPr id="6" name="TextBox 5">
            <a:extLst>
              <a:ext uri="{FF2B5EF4-FFF2-40B4-BE49-F238E27FC236}">
                <a16:creationId xmlns:a16="http://schemas.microsoft.com/office/drawing/2014/main" id="{4A5BB233-8B0B-2318-62D4-52018E1C02C3}"/>
              </a:ext>
            </a:extLst>
          </p:cNvPr>
          <p:cNvSpPr txBox="1"/>
          <p:nvPr/>
        </p:nvSpPr>
        <p:spPr>
          <a:xfrm>
            <a:off x="3460955" y="442453"/>
            <a:ext cx="5486400"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Wishlist &amp; User Profile</a:t>
            </a:r>
          </a:p>
        </p:txBody>
      </p:sp>
    </p:spTree>
    <p:extLst>
      <p:ext uri="{BB962C8B-B14F-4D97-AF65-F5344CB8AC3E}">
        <p14:creationId xmlns:p14="http://schemas.microsoft.com/office/powerpoint/2010/main" val="465735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71CC9-CD62-F325-8F92-87DFB788A651}"/>
              </a:ext>
            </a:extLst>
          </p:cNvPr>
          <p:cNvSpPr>
            <a:spLocks noGrp="1"/>
          </p:cNvSpPr>
          <p:nvPr>
            <p:ph type="ctrTitle"/>
          </p:nvPr>
        </p:nvSpPr>
        <p:spPr>
          <a:xfrm>
            <a:off x="1524000" y="835742"/>
            <a:ext cx="9144000" cy="599768"/>
          </a:xfrm>
        </p:spPr>
        <p:txBody>
          <a:bodyPr>
            <a:norm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BB3AAD1A-0D3E-C2B8-466B-2BA171F94608}"/>
              </a:ext>
            </a:extLst>
          </p:cNvPr>
          <p:cNvSpPr>
            <a:spLocks noGrp="1"/>
          </p:cNvSpPr>
          <p:nvPr>
            <p:ph type="subTitle" idx="1"/>
          </p:nvPr>
        </p:nvSpPr>
        <p:spPr>
          <a:xfrm>
            <a:off x="1700981" y="2054943"/>
            <a:ext cx="9370141" cy="3805084"/>
          </a:xfrm>
        </p:spPr>
        <p:txBody>
          <a:bodyPr>
            <a:normAutofit/>
          </a:bodyPr>
          <a:lstStyle/>
          <a:p>
            <a:pPr marL="342900" indent="-34290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BloomVerse system provides personalized book recommendations using collaborative filtering and cosine similarity.</a:t>
            </a:r>
          </a:p>
          <a:p>
            <a:pPr marL="342900" indent="-34290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analyzes user preferences to generate accurate suggestions, while NLP-based summaries help users understand book content quickly.</a:t>
            </a:r>
          </a:p>
          <a:p>
            <a:pPr marL="342900" indent="-34290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improves user experience by reducing manual effort and delivering meaningful recommendations.</a:t>
            </a:r>
          </a:p>
          <a:p>
            <a:pPr marL="342900" indent="-342900" algn="l">
              <a:lnSpc>
                <a:spcPct val="150000"/>
              </a:lnSpc>
              <a:buFont typeface="Arial" panose="020B0604020202020204" pitchFamily="34" charset="0"/>
              <a:buChar char="•"/>
            </a:pPr>
            <a:endParaRPr lang="en-IN" sz="1800" dirty="0"/>
          </a:p>
        </p:txBody>
      </p:sp>
    </p:spTree>
    <p:extLst>
      <p:ext uri="{BB962C8B-B14F-4D97-AF65-F5344CB8AC3E}">
        <p14:creationId xmlns:p14="http://schemas.microsoft.com/office/powerpoint/2010/main" val="3027159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7773-84ED-6B57-5B6F-5E5D9B09C27F}"/>
              </a:ext>
            </a:extLst>
          </p:cNvPr>
          <p:cNvSpPr>
            <a:spLocks noGrp="1"/>
          </p:cNvSpPr>
          <p:nvPr>
            <p:ph type="ctrTitle"/>
          </p:nvPr>
        </p:nvSpPr>
        <p:spPr>
          <a:xfrm>
            <a:off x="1524000" y="811161"/>
            <a:ext cx="9144000" cy="555523"/>
          </a:xfrm>
        </p:spPr>
        <p:txBody>
          <a:bodyPr>
            <a:normAutofit/>
          </a:bodyPr>
          <a:lstStyle/>
          <a:p>
            <a:r>
              <a:rPr lang="en-IN" sz="3200" b="1" dirty="0">
                <a:latin typeface="Times New Roman" panose="02020603050405020304" pitchFamily="18" charset="0"/>
                <a:cs typeface="Times New Roman" panose="02020603050405020304" pitchFamily="18" charset="0"/>
              </a:rPr>
              <a:t>References</a:t>
            </a:r>
          </a:p>
        </p:txBody>
      </p:sp>
      <p:sp>
        <p:nvSpPr>
          <p:cNvPr id="3" name="Subtitle 2">
            <a:extLst>
              <a:ext uri="{FF2B5EF4-FFF2-40B4-BE49-F238E27FC236}">
                <a16:creationId xmlns:a16="http://schemas.microsoft.com/office/drawing/2014/main" id="{F6804958-9E33-6913-9938-9DDE0F2B860F}"/>
              </a:ext>
            </a:extLst>
          </p:cNvPr>
          <p:cNvSpPr>
            <a:spLocks noGrp="1"/>
          </p:cNvSpPr>
          <p:nvPr>
            <p:ph type="subTitle" idx="1"/>
          </p:nvPr>
        </p:nvSpPr>
        <p:spPr>
          <a:xfrm>
            <a:off x="1523999" y="1769806"/>
            <a:ext cx="9851923" cy="4277033"/>
          </a:xfrm>
        </p:spPr>
        <p:txBody>
          <a:bodyPr>
            <a:normAutofit/>
          </a:bodyPr>
          <a:lstStyle/>
          <a:p>
            <a:pPr marL="457200" indent="-457200" algn="l">
              <a:buFont typeface="+mj-lt"/>
              <a:buAutoNum type="arabicPeriod"/>
            </a:pPr>
            <a:r>
              <a:rPr lang="en-IN" sz="1800" dirty="0">
                <a:latin typeface="Times New Roman" panose="02020603050405020304" pitchFamily="18" charset="0"/>
                <a:cs typeface="Times New Roman" panose="02020603050405020304" pitchFamily="18" charset="0"/>
              </a:rPr>
              <a:t>Sun, D., He, T., &amp; Zhang, H. (2012). </a:t>
            </a:r>
            <a:r>
              <a:rPr lang="en-IN" sz="1800" i="1" dirty="0">
                <a:latin typeface="Times New Roman" panose="02020603050405020304" pitchFamily="18" charset="0"/>
                <a:cs typeface="Times New Roman" panose="02020603050405020304" pitchFamily="18" charset="0"/>
              </a:rPr>
              <a:t>Survey of Cold-start Problem in Collaborative Filtering Recommender System.</a:t>
            </a:r>
            <a:r>
              <a:rPr lang="en-IN" sz="1800" dirty="0">
                <a:latin typeface="Times New Roman" panose="02020603050405020304" pitchFamily="18" charset="0"/>
                <a:cs typeface="Times New Roman" panose="02020603050405020304" pitchFamily="18" charset="0"/>
              </a:rPr>
              <a:t> Computer and Modernization, 5, 59–63. </a:t>
            </a:r>
          </a:p>
          <a:p>
            <a:pPr marL="457200" indent="-457200" algn="l">
              <a:buFont typeface="+mj-lt"/>
              <a:buAutoNum type="arabicPeriod"/>
            </a:pPr>
            <a:r>
              <a:rPr lang="en-IN" sz="1800" dirty="0">
                <a:latin typeface="Times New Roman" panose="02020603050405020304" pitchFamily="18" charset="0"/>
                <a:cs typeface="Times New Roman" panose="02020603050405020304" pitchFamily="18" charset="0"/>
              </a:rPr>
              <a:t>Zhang, C., Sun, F., Fang, C., &amp; Guo, R. (2017). </a:t>
            </a:r>
            <a:r>
              <a:rPr lang="en-IN" sz="1800" i="1" dirty="0">
                <a:latin typeface="Times New Roman" panose="02020603050405020304" pitchFamily="18" charset="0"/>
                <a:cs typeface="Times New Roman" panose="02020603050405020304" pitchFamily="18" charset="0"/>
              </a:rPr>
              <a:t>Collaborative Filtering Algorithm with Stability of Interest and Time-Sensitive.</a:t>
            </a:r>
            <a:r>
              <a:rPr lang="en-IN" sz="1800" dirty="0">
                <a:latin typeface="Times New Roman" panose="02020603050405020304" pitchFamily="18" charset="0"/>
                <a:cs typeface="Times New Roman" panose="02020603050405020304" pitchFamily="18" charset="0"/>
              </a:rPr>
              <a:t> Computer Engineering and Applications, May 2017. </a:t>
            </a:r>
          </a:p>
          <a:p>
            <a:pPr marL="457200" indent="-457200" algn="l">
              <a:buFont typeface="+mj-lt"/>
              <a:buAutoNum type="arabicPeriod"/>
            </a:pPr>
            <a:r>
              <a:rPr lang="en-IN" sz="1800" dirty="0">
                <a:latin typeface="Times New Roman" panose="02020603050405020304" pitchFamily="18" charset="0"/>
                <a:cs typeface="Times New Roman" panose="02020603050405020304" pitchFamily="18" charset="0"/>
              </a:rPr>
              <a:t>Jannach, D., Zanker, M., Felfernig, A., &amp; Friedrich, G. (2011). </a:t>
            </a:r>
            <a:r>
              <a:rPr lang="en-IN" sz="1800" i="1" dirty="0">
                <a:latin typeface="Times New Roman" panose="02020603050405020304" pitchFamily="18" charset="0"/>
                <a:cs typeface="Times New Roman" panose="02020603050405020304" pitchFamily="18" charset="0"/>
              </a:rPr>
              <a:t>Recommender Systems: An Introduction.</a:t>
            </a:r>
            <a:r>
              <a:rPr lang="en-IN" sz="1800" dirty="0">
                <a:latin typeface="Times New Roman" panose="02020603050405020304" pitchFamily="18" charset="0"/>
                <a:cs typeface="Times New Roman" panose="02020603050405020304" pitchFamily="18" charset="0"/>
              </a:rPr>
              <a:t> Cambridge University Press. </a:t>
            </a:r>
          </a:p>
          <a:p>
            <a:pPr marL="457200" indent="-457200" algn="l">
              <a:buFont typeface="+mj-lt"/>
              <a:buAutoNum type="arabicPeriod"/>
            </a:pPr>
            <a:r>
              <a:rPr lang="en-IN" sz="1800" dirty="0">
                <a:latin typeface="Times New Roman" panose="02020603050405020304" pitchFamily="18" charset="0"/>
                <a:cs typeface="Times New Roman" panose="02020603050405020304" pitchFamily="18" charset="0"/>
              </a:rPr>
              <a:t>Luo, Z. (2012). </a:t>
            </a:r>
            <a:r>
              <a:rPr lang="en-IN" sz="1800" i="1" dirty="0">
                <a:latin typeface="Times New Roman" panose="02020603050405020304" pitchFamily="18" charset="0"/>
                <a:cs typeface="Times New Roman" panose="02020603050405020304" pitchFamily="18" charset="0"/>
              </a:rPr>
              <a:t>Realization of Individualized Recommendation System on Book Sales.</a:t>
            </a:r>
            <a:r>
              <a:rPr lang="en-IN" sz="1800" dirty="0">
                <a:latin typeface="Times New Roman" panose="02020603050405020304" pitchFamily="18" charset="0"/>
                <a:cs typeface="Times New Roman" panose="02020603050405020304" pitchFamily="18" charset="0"/>
              </a:rPr>
              <a:t> IEEE International Conference on Management of e-Commerce and e-Government, 10–13. </a:t>
            </a:r>
          </a:p>
          <a:p>
            <a:pPr marL="457200" indent="-457200" algn="l">
              <a:buFont typeface="+mj-lt"/>
              <a:buAutoNum type="arabicPeriod"/>
            </a:pPr>
            <a:r>
              <a:rPr lang="en-IN" sz="1800" dirty="0">
                <a:latin typeface="Times New Roman" panose="02020603050405020304" pitchFamily="18" charset="0"/>
                <a:cs typeface="Times New Roman" panose="02020603050405020304" pitchFamily="18" charset="0"/>
              </a:rPr>
              <a:t>Sarwar, B., Karypis, G., Konstan, J., &amp; Riedl, J. (2001). </a:t>
            </a:r>
            <a:r>
              <a:rPr lang="en-IN" sz="1800" i="1" dirty="0">
                <a:latin typeface="Times New Roman" panose="02020603050405020304" pitchFamily="18" charset="0"/>
                <a:cs typeface="Times New Roman" panose="02020603050405020304" pitchFamily="18" charset="0"/>
              </a:rPr>
              <a:t>Item-based Collaborative Filtering Recommendation Algorithms.</a:t>
            </a:r>
            <a:r>
              <a:rPr lang="en-IN" sz="1800" dirty="0">
                <a:latin typeface="Times New Roman" panose="02020603050405020304" pitchFamily="18" charset="0"/>
                <a:cs typeface="Times New Roman" panose="02020603050405020304" pitchFamily="18" charset="0"/>
              </a:rPr>
              <a:t> Proceedings of the 10th International World Wide Web Conference (WWW), 285–295. </a:t>
            </a:r>
          </a:p>
          <a:p>
            <a:pPr marL="457200" indent="-457200" algn="l">
              <a:buFont typeface="+mj-lt"/>
              <a:buAutoNum type="arabicPeriod"/>
            </a:pPr>
            <a:r>
              <a:rPr lang="en-IN" sz="1800" dirty="0">
                <a:latin typeface="Times New Roman" panose="02020603050405020304" pitchFamily="18" charset="0"/>
                <a:cs typeface="Times New Roman" panose="02020603050405020304" pitchFamily="18" charset="0"/>
              </a:rPr>
              <a:t>Resnick, P., Iacovou, N., Suchak, M., Bergstrom, P., &amp; Riedl, J. (1994). </a:t>
            </a:r>
            <a:r>
              <a:rPr lang="en-IN" sz="1800" i="1" dirty="0">
                <a:latin typeface="Times New Roman" panose="02020603050405020304" pitchFamily="18" charset="0"/>
                <a:cs typeface="Times New Roman" panose="02020603050405020304" pitchFamily="18" charset="0"/>
              </a:rPr>
              <a:t>GroupLens: An Open Architecture for Collaborative Filtering of Netnews.</a:t>
            </a:r>
            <a:r>
              <a:rPr lang="en-IN" sz="1800" dirty="0">
                <a:latin typeface="Times New Roman" panose="02020603050405020304" pitchFamily="18" charset="0"/>
                <a:cs typeface="Times New Roman" panose="02020603050405020304" pitchFamily="18" charset="0"/>
              </a:rPr>
              <a:t> ACM Conference on Computer Supported Cooperative Work, 175–186. </a:t>
            </a:r>
          </a:p>
          <a:p>
            <a:pPr marL="457200" indent="-457200" algn="l">
              <a:buFont typeface="+mj-lt"/>
              <a:buAutoNum type="arabicPeriod"/>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039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D89E7C-22DC-012A-3043-729931C89A7D}"/>
              </a:ext>
            </a:extLst>
          </p:cNvPr>
          <p:cNvSpPr txBox="1"/>
          <p:nvPr/>
        </p:nvSpPr>
        <p:spPr>
          <a:xfrm>
            <a:off x="3500284" y="2261420"/>
            <a:ext cx="5161935" cy="1035328"/>
          </a:xfrm>
          <a:prstGeom prst="rect">
            <a:avLst/>
          </a:prstGeom>
          <a:noFill/>
        </p:spPr>
        <p:txBody>
          <a:bodyPr wrap="square" rtlCol="0">
            <a:spAutoFit/>
          </a:bodyPr>
          <a:lstStyle/>
          <a:p>
            <a:pPr algn="ctr"/>
            <a:r>
              <a:rPr lang="en-US" sz="6000" dirty="0">
                <a:latin typeface="Times New Roman" panose="02020603050405020304" pitchFamily="18" charset="0"/>
                <a:cs typeface="Times New Roman" panose="02020603050405020304" pitchFamily="18" charset="0"/>
              </a:rPr>
              <a:t>QUERIES ?</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6664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803CD13-24B5-BA6B-9967-5169C0EAF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863" y="1597349"/>
            <a:ext cx="8342671" cy="281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242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972</TotalTime>
  <Words>1093</Words>
  <Application>Microsoft Office PowerPoint</Application>
  <PresentationFormat>Widescreen</PresentationFormat>
  <Paragraphs>113</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Arial Rounded MT Bold</vt:lpstr>
      <vt:lpstr>Bahnschrift</vt:lpstr>
      <vt:lpstr>Calibri</vt:lpstr>
      <vt:lpstr>Calibri Light</vt:lpstr>
      <vt:lpstr>Lucida Fax</vt:lpstr>
      <vt:lpstr>Times New Roman</vt:lpstr>
      <vt:lpstr>Office Theme</vt:lpstr>
      <vt:lpstr>PowerPoint Presentation</vt:lpstr>
      <vt:lpstr>  Abstract</vt:lpstr>
      <vt:lpstr>PowerPoint Presentation</vt:lpstr>
      <vt:lpstr>Problem Statement</vt:lpstr>
      <vt:lpstr>Existing System and Disadvantages</vt:lpstr>
      <vt:lpstr>Proposed System</vt:lpstr>
      <vt:lpstr>System architecture</vt:lpstr>
      <vt:lpstr>Tech Stack</vt:lpstr>
      <vt:lpstr>PowerPoint Presentation</vt:lpstr>
      <vt:lpstr>System Output</vt:lpstr>
      <vt:lpstr>PowerPoint Presentation</vt:lpstr>
      <vt:lpstr>PowerPoint Presentation</vt:lpstr>
      <vt:lpstr>PowerPoint Presentation</vt:lpstr>
      <vt:lpstr>PowerPoint Presentation</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Srinivas M</dc:creator>
  <cp:lastModifiedBy>bhagya lakshmi</cp:lastModifiedBy>
  <cp:revision>11</cp:revision>
  <dcterms:created xsi:type="dcterms:W3CDTF">2026-01-22T06:48:41Z</dcterms:created>
  <dcterms:modified xsi:type="dcterms:W3CDTF">2026-04-07T08:14:40Z</dcterms:modified>
</cp:coreProperties>
</file>